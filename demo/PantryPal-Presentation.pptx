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5cb03e90-a13e-8d5a-02e5-98ca7f7498ec}">
          <p14:sldIdLst>
            <p14:sldId id="256"/>
            <p14:sldId id="257"/>
          </p14:sldIdLst>
        </p14:section>
        <p14:section name="What I built" id="{f64c0ab8-571a-3371-85a0-bf528b295005}">
          <p14:sldIdLst>
            <p14:sldId id="258"/>
            <p14:sldId id="259"/>
            <p14:sldId id="260"/>
          </p14:sldIdLst>
        </p14:section>
        <p14:section name="Build and test" id="{abf4077f-b3d3-ed66-bc0d-3c309e7236d8}">
          <p14:sldIdLst>
            <p14:sldId id="261"/>
            <p14:sldId id="262"/>
            <p14:sldId id="263"/>
          </p14:sldIdLst>
        </p14:section>
        <p14:section name="Ship and run" id="{d7459eff-061c-e39d-b037-495f6c4ee46c}">
          <p14:sldIdLst>
            <p14:sldId id="264"/>
            <p14:sldId id="265"/>
            <p14:sldId id="266"/>
            <p14:sldId id="267"/>
            <p14:sldId id="268"/>
          </p14:sldIdLst>
        </p14:section>
        <p14:section name="Wrap-up" id="{135bb5ac-38ab-2a37-fa82-de778cef596b}">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PantryPal is a pantry inventory tracker I built as the application for this capstone. The real subject is everything around it: tests, containers, CI/CD with a security gate, Terraform, Kubernetes with Helm, and monitoring. The screenshot is the app running in Kubernetes behind an Ingress.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Food gets forgotten at the back of the cupboard and thrown away. PantryPal keeps a list of what you have and puts whatever expires soonest at the top. It's a real three-tier app: React talks to a FastAPI backend, which stores data in PostgreSQL.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course module maps to one part of the project, and they chain together: code is tested, containerised, scanned, published, deployed by Helm into Kubernetes and monitored. Terraform describes the AWS network and EKS cluster it would run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delivery path. A push triggers GitHub Actions, which publishes images to GHCR tagged with the commit SHA and deploys them with Helm. Middle: inside the cluster, one Ingress sends / to the React frontend and /api to the FastAPI backend, which talks to PostgreSQL. Prometheus scrapes the backend's metrics and Grafana shows them. Right: Terraform describes the AWS VPC and EKS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every layer I picked the tool the course used, but I also looked at the alternatives. Kubernetes over Docker Swarm or ECS because it's portable: the same Helm chart runs on my laptop with kind and on AWS EKS. GHCR over Docker Hub because the images live next to the code with no extra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is in one public repository: github.com/erantianantha/Capsone_Devops. Each folder maps to a module. No secrets are committed: passwords live in Kubernetes Secrets or git-ignored files, and a Trivy secret scan of the repo is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part of the app is its own container. One Compose command builds and starts all three, and they come up in order once each is healthy. Both images run as non-root users, so a compromised container has fewer privileges. Below: the app running from Compose at localhost:3000.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Tests cover health and readiness (including a simulated database outage), validation errors, 404s, filtering, expiry sorting and stats. They run against a throwaway in-memory database, so they're fast and never touch real data. In the pipeline, a single failing test stops the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push to main runs this pipeline. Tests and the frontend build run first. Then each image is built, scanned by Trivy and pushed to GHCR, tagged with the commit SHA instead of 'latest', so every running version traces back to an exact commit. Finally the pipeline creates a temporary Kubernetes cluster, deploys that exact version with Helm, and checks it works through the Ingress. Right: the published image, public, tagged with the commit SHA.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Trivy checks every image for known vulnerabilities before it's pushed. If it finds a HIGH or CRITICAL one with a fix available, the pipeline stops. The first build failed this gate, which is the point: I fixed the image instead of shipping it. Now both images scan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clicking through the AWS console, the whole network and Kubernetes cluster are written as code, so they can be reviewed, versioned and recreated. Without an AWS account I ran Terraform against moto, a local AWS emulator: plan showed 25 resources, apply created them, and destroy removed them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Kubernetes keeps two copies of the frontend and backend running and replaces any that fail. Helm packages all the Kubernetes objects into one chart, so deploying a new version is a single command that sets the image tag to the new commit SHA. The Ingress is the single front door for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backend exposes a /metrics endpoint. Prometheus collects it from both backend pods every 15 seconds, and Grafana turns it into a dashboard: request rate, response-time percentiles, error rate and traffic per pod. These numbers are from a real load test against the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demo I change one line of the UI, commit and push. The audience watches GitHub Actions test, scan and publish the images and deploy them. Then I refresh the app: the new text appears and the build badge shows the new commit SHA. helm history shows each rollout as a new revision.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 learning came from things that went wrong. Each of these was a real failure during the build, found by a test, a scan, a crash or a dashboard, and fixed at the root rather than worked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Everything shown is in the public repository, and the README has step-by-step instructions and a screenshot for every module.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540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280160"/>
          </a:xfrm>
          <a:prstGeom prst="rect">
            <a:avLst/>
          </a:prstGeom>
          <a:noFill/>
          <a:ln/>
        </p:spPr>
        <p:txBody>
          <a:bodyPr wrap="square" rtlCol="0"/>
          <a:lstStyle>
            <a:lvl1pPr algn="l" indent="0" marL="0">
              <a:buNone/>
              <a:defRPr lang="en-US" sz="5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5400" dirty="0"/>
          </a:p>
        </p:txBody>
      </p:sp>
      <p:sp>
        <p:nvSpPr>
          <p:cNvPr id="3" name="Text 0"/>
          <p:cNvSpPr/>
          <p:nvPr>
            <p:ph idx="101" type="body" hasCustomPrompt="1"/>
          </p:nvPr>
        </p:nvSpPr>
        <p:spPr>
          <a:xfrm>
            <a:off x="640080" y="3246120"/>
            <a:ext cx="5669280" cy="1280160"/>
          </a:xfrm>
          <a:prstGeom prst="rect">
            <a:avLst/>
          </a:prstGeom>
          <a:noFill/>
          <a:ln/>
        </p:spPr>
        <p:txBody>
          <a:bodyPr wrap="square" rtlCol="0"/>
          <a:lstStyle>
            <a:lvl1pPr algn="l" indent="0" marL="0">
              <a:buNone/>
              <a:defRPr lang="en-US" sz="2000" dirty="0">
                <a:solidFill>
                  <a:schemeClr val="accent6"/>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000" dirty="0">
                <a:solidFill>
                  <a:schemeClr val="accent5"/>
                </a:solidFill>
              </a:rPr>
              <a:t>PantryPal · DevOps Capstone</a:t>
            </a:r>
            <a:endParaRPr lang="en-US" sz="10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rgbClr val="15402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rtlCol="0"/>
          <a:lstStyle>
            <a:lvl1pPr algn="l" indent="0" marL="0">
              <a:buNone/>
              <a:defRPr lang="en-US" sz="3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548640" y="6419088"/>
            <a:ext cx="4572000" cy="274320"/>
          </a:xfrm>
          <a:prstGeom prst="rect">
            <a:avLst/>
          </a:prstGeom>
          <a:noFill/>
          <a:ln/>
        </p:spPr>
        <p:txBody>
          <a:bodyPr wrap="square" lIns="0" tIns="0" rIns="0" bIns="0" rtlCol="0" anchor="ctr"/>
          <a:lstStyle/>
          <a:p>
            <a:pPr indent="0" marL="0">
              <a:buNone/>
            </a:pPr>
            <a:r>
              <a:rPr lang="en-US" sz="1000" dirty="0">
                <a:solidFill>
                  <a:schemeClr val="accent6"/>
                </a:solidFill>
              </a:rPr>
              <a:t>PantryPal · DevOps Capstone</a:t>
            </a:r>
            <a:endParaRPr lang="en-US" sz="10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jpe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slideLayout" Target="../slideLayouts/slideLayout3.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e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slideLayout" Target="../slideLayouts/slideLayout3.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e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PantryPal</a:t>
            </a:r>
            <a:endParaRPr lang="en-US" sz="5400" dirty="0"/>
          </a:p>
        </p:txBody>
      </p:sp>
      <p:sp>
        <p:nvSpPr>
          <p:cNvPr id="3" name="Text 0"/>
          <p:cNvSpPr/>
          <p:nvPr>
            <p:ph idx="101" type="body" hasCustomPrompt="1"/>
          </p:nvPr>
        </p:nvSpPr>
        <p:spPr>
          <a:xfrm>
            <a:off x="640080" y="3246120"/>
            <a:ext cx="5669280" cy="1280160"/>
          </a:xfrm>
          <a:prstGeom prst="rect">
            <a:avLst/>
          </a:prstGeom>
          <a:noFill/>
          <a:ln/>
        </p:spPr>
        <p:txBody>
          <a:bodyPr wrap="square" lIns="0" tIns="0" rIns="0" bIns="0" rtlCol="0" anchor="t"/>
          <a:lstStyle/>
          <a:p>
            <a:pPr algn="l" indent="0" marL="0">
              <a:buNone/>
            </a:pPr>
            <a:r>
              <a:rPr lang="en-US" sz="2000" dirty="0">
                <a:solidFill>
                  <a:schemeClr val="accent6"/>
                </a:solidFill>
              </a:rPr>
              <a:t>From commit to cluster: a complete DevOps pipeline for a home pantry tracker</a:t>
            </a:r>
            <a:endParaRPr lang="en-US" sz="2000" dirty="0"/>
          </a:p>
        </p:txBody>
      </p:sp>
      <p:sp>
        <p:nvSpPr>
          <p:cNvPr id="4" name="byline"/>
          <p:cNvSpPr txBox="1"/>
          <p:nvPr/>
        </p:nvSpPr>
        <p:spPr>
          <a:xfrm>
            <a:off x="640080" y="5120640"/>
            <a:ext cx="5669280" cy="365760"/>
          </a:xfrm>
          <a:prstGeom prst="rect">
            <a:avLst/>
          </a:prstGeom>
          <a:noFill/>
          <a:ln/>
        </p:spPr>
        <p:txBody>
          <a:bodyPr wrap="square" lIns="0" tIns="0" rIns="0" bIns="0" rtlCol="0" anchor="ctr"/>
          <a:lstStyle/>
          <a:p>
            <a:pPr indent="0" marL="0">
              <a:buNone/>
            </a:pPr>
            <a:r>
              <a:rPr lang="en-US" sz="1400" dirty="0">
                <a:solidFill>
                  <a:schemeClr val="accent2"/>
                </a:solidFill>
              </a:rPr>
              <a:t>DevOps &amp; Cloud capstone  ·  erantianantha  ·  October 2026</a:t>
            </a:r>
            <a:endParaRPr lang="en-US" sz="1400" dirty="0"/>
          </a:p>
        </p:txBody>
      </p:sp>
      <p:pic>
        <p:nvPicPr>
          <p:cNvPr id="5" name="App screenshot" descr="App screenshot">    </p:cNvPr>
          <p:cNvPicPr>
            <a:picLocks noChangeAspect="1"/>
          </p:cNvPicPr>
          <p:nvPr/>
        </p:nvPicPr>
        <p:blipFill>
          <a:blip r:embed="rId1"/>
          <a:stretch>
            <a:fillRect/>
          </a:stretch>
        </p:blipFill>
        <p:spPr>
          <a:xfrm>
            <a:off x="6858000" y="1278020"/>
            <a:ext cx="4846320" cy="4301960"/>
          </a:xfrm>
          <a:prstGeom prst="rect">
            <a:avLst/>
          </a:prstGeom>
          <a:effectLst>
            <a:outerShdw sx="100000" sy="100000" kx="0" ky="0" algn="bl" rotWithShape="0" blurRad="101600" dist="25400" dir="5400000">
              <a:srgbClr val="000000">
                <a:alpha val="18000"/>
              </a:srgbClr>
            </a:outerShdw>
          </a:effectLst>
        </p:spPr>
      </p:pic>
      <p:sp>
        <p:nvSpPr>
          <p:cNvPr id="6" name="App screenshot frame"/>
          <p:cNvSpPr/>
          <p:nvPr/>
        </p:nvSpPr>
        <p:spPr>
          <a:xfrm>
            <a:off x="6858000" y="1278020"/>
            <a:ext cx="4846320" cy="4301960"/>
          </a:xfrm>
          <a:prstGeom prst="rect">
            <a:avLst/>
          </a:prstGeom>
          <a:ln w="9525">
            <a:solidFill>
              <a:srgbClr val="D5DBD7"/>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problem PantryPal solves</a:t>
            </a:r>
            <a:endParaRPr lang="en-US" sz="3400" dirty="0"/>
          </a:p>
        </p:txBody>
      </p:sp>
      <p:sp>
        <p:nvSpPr>
          <p:cNvPr id="3" name="Feature 1 circle"/>
          <p:cNvSpPr/>
          <p:nvPr/>
        </p:nvSpPr>
        <p:spPr>
          <a:xfrm>
            <a:off x="548640" y="1463040"/>
            <a:ext cx="822960" cy="822960"/>
          </a:xfrm>
          <a:prstGeom prst="ellipse">
            <a:avLst/>
          </a:prstGeom>
          <a:solidFill>
            <a:srgbClr val="2F7D5B"/>
          </a:solidFill>
          <a:ln/>
        </p:spPr>
      </p:sp>
      <p:pic>
        <p:nvPicPr>
          <p:cNvPr id="4" name="Feature 1 icon" descr="preencoded.png">    </p:cNvPr>
          <p:cNvPicPr>
            <a:picLocks noChangeAspect="1"/>
          </p:cNvPicPr>
          <p:nvPr/>
        </p:nvPicPr>
        <p:blipFill>
          <a:blip r:embed="rId1"/>
          <a:stretch>
            <a:fillRect/>
          </a:stretch>
        </p:blipFill>
        <p:spPr>
          <a:xfrm>
            <a:off x="746150" y="1660550"/>
            <a:ext cx="427939" cy="427939"/>
          </a:xfrm>
          <a:prstGeom prst="rect">
            <a:avLst/>
          </a:prstGeom>
        </p:spPr>
      </p:pic>
      <p:sp>
        <p:nvSpPr>
          <p:cNvPr id="5" name="Feature title 1"/>
          <p:cNvSpPr txBox="1"/>
          <p:nvPr/>
        </p:nvSpPr>
        <p:spPr>
          <a:xfrm>
            <a:off x="1600200" y="1444752"/>
            <a:ext cx="4023360" cy="411480"/>
          </a:xfrm>
          <a:prstGeom prst="rect">
            <a:avLst/>
          </a:prstGeom>
          <a:noFill/>
          <a:ln/>
        </p:spPr>
        <p:txBody>
          <a:bodyPr wrap="square" lIns="0" tIns="0" rIns="0" bIns="0" rtlCol="0" anchor="ctr"/>
          <a:lstStyle/>
          <a:p>
            <a:pPr indent="0" marL="0">
              <a:buNone/>
            </a:pPr>
            <a:r>
              <a:rPr lang="en-US" sz="2000" b="1" dirty="0">
                <a:solidFill>
                  <a:schemeClr val="tx1"/>
                </a:solidFill>
              </a:rPr>
              <a:t>Track what you have</a:t>
            </a:r>
            <a:endParaRPr lang="en-US" sz="2000" dirty="0"/>
          </a:p>
        </p:txBody>
      </p:sp>
      <p:sp>
        <p:nvSpPr>
          <p:cNvPr id="6" name="Feature text 1"/>
          <p:cNvSpPr txBox="1"/>
          <p:nvPr/>
        </p:nvSpPr>
        <p:spPr>
          <a:xfrm>
            <a:off x="1600200" y="1874520"/>
            <a:ext cx="4023360" cy="685800"/>
          </a:xfrm>
          <a:prstGeom prst="rect">
            <a:avLst/>
          </a:prstGeom>
          <a:noFill/>
          <a:ln/>
        </p:spPr>
        <p:txBody>
          <a:bodyPr wrap="square" lIns="0" tIns="0" rIns="0" bIns="0" rtlCol="0" anchor="t"/>
          <a:lstStyle/>
          <a:p>
            <a:pPr indent="0" marL="0">
              <a:buNone/>
            </a:pPr>
            <a:r>
              <a:rPr lang="en-US" sz="1500" dirty="0">
                <a:solidFill>
                  <a:schemeClr val="accent5"/>
                </a:solidFill>
              </a:rPr>
              <a:t>Name, category, quantity and unit for every item in the kitchen</a:t>
            </a:r>
            <a:endParaRPr lang="en-US" sz="1500" dirty="0"/>
          </a:p>
        </p:txBody>
      </p:sp>
      <p:sp>
        <p:nvSpPr>
          <p:cNvPr id="7" name="Feature 2 circle"/>
          <p:cNvSpPr/>
          <p:nvPr/>
        </p:nvSpPr>
        <p:spPr>
          <a:xfrm>
            <a:off x="548640" y="2926080"/>
            <a:ext cx="822960" cy="822960"/>
          </a:xfrm>
          <a:prstGeom prst="ellipse">
            <a:avLst/>
          </a:prstGeom>
          <a:solidFill>
            <a:srgbClr val="2F7D5B"/>
          </a:solidFill>
          <a:ln/>
        </p:spPr>
      </p:sp>
      <p:pic>
        <p:nvPicPr>
          <p:cNvPr id="8" name="Feature 2 icon" descr="preencoded.png">    </p:cNvPr>
          <p:cNvPicPr>
            <a:picLocks noChangeAspect="1"/>
          </p:cNvPicPr>
          <p:nvPr/>
        </p:nvPicPr>
        <p:blipFill>
          <a:blip r:embed="rId2"/>
          <a:stretch>
            <a:fillRect/>
          </a:stretch>
        </p:blipFill>
        <p:spPr>
          <a:xfrm>
            <a:off x="746150" y="3123590"/>
            <a:ext cx="427939" cy="427939"/>
          </a:xfrm>
          <a:prstGeom prst="rect">
            <a:avLst/>
          </a:prstGeom>
        </p:spPr>
      </p:pic>
      <p:sp>
        <p:nvSpPr>
          <p:cNvPr id="9" name="Feature title 2"/>
          <p:cNvSpPr txBox="1"/>
          <p:nvPr/>
        </p:nvSpPr>
        <p:spPr>
          <a:xfrm>
            <a:off x="1600200" y="2907792"/>
            <a:ext cx="4023360" cy="411480"/>
          </a:xfrm>
          <a:prstGeom prst="rect">
            <a:avLst/>
          </a:prstGeom>
          <a:noFill/>
          <a:ln/>
        </p:spPr>
        <p:txBody>
          <a:bodyPr wrap="square" lIns="0" tIns="0" rIns="0" bIns="0" rtlCol="0" anchor="ctr"/>
          <a:lstStyle/>
          <a:p>
            <a:pPr indent="0" marL="0">
              <a:buNone/>
            </a:pPr>
            <a:r>
              <a:rPr lang="en-US" sz="2000" b="1" dirty="0">
                <a:solidFill>
                  <a:schemeClr val="tx1"/>
                </a:solidFill>
              </a:rPr>
              <a:t>See what expires first</a:t>
            </a:r>
            <a:endParaRPr lang="en-US" sz="2000" dirty="0"/>
          </a:p>
        </p:txBody>
      </p:sp>
      <p:sp>
        <p:nvSpPr>
          <p:cNvPr id="10" name="Feature text 2"/>
          <p:cNvSpPr txBox="1"/>
          <p:nvPr/>
        </p:nvSpPr>
        <p:spPr>
          <a:xfrm>
            <a:off x="1600200" y="3337560"/>
            <a:ext cx="4023360" cy="685800"/>
          </a:xfrm>
          <a:prstGeom prst="rect">
            <a:avLst/>
          </a:prstGeom>
          <a:noFill/>
          <a:ln/>
        </p:spPr>
        <p:txBody>
          <a:bodyPr wrap="square" lIns="0" tIns="0" rIns="0" bIns="0" rtlCol="0" anchor="t"/>
          <a:lstStyle/>
          <a:p>
            <a:pPr indent="0" marL="0">
              <a:buNone/>
            </a:pPr>
            <a:r>
              <a:rPr lang="en-US" sz="1500" dirty="0">
                <a:solidFill>
                  <a:schemeClr val="accent5"/>
                </a:solidFill>
              </a:rPr>
              <a:t>Items sorted by expiry date; red, amber and green badges flag what to use now</a:t>
            </a:r>
            <a:endParaRPr lang="en-US" sz="1500" dirty="0"/>
          </a:p>
        </p:txBody>
      </p:sp>
      <p:sp>
        <p:nvSpPr>
          <p:cNvPr id="11" name="Feature 3 circle"/>
          <p:cNvSpPr/>
          <p:nvPr/>
        </p:nvSpPr>
        <p:spPr>
          <a:xfrm>
            <a:off x="548640" y="4389120"/>
            <a:ext cx="822960" cy="822960"/>
          </a:xfrm>
          <a:prstGeom prst="ellipse">
            <a:avLst/>
          </a:prstGeom>
          <a:solidFill>
            <a:srgbClr val="2F7D5B"/>
          </a:solidFill>
          <a:ln/>
        </p:spPr>
      </p:sp>
      <p:pic>
        <p:nvPicPr>
          <p:cNvPr id="12" name="Feature 3 icon" descr="preencoded.png">    </p:cNvPr>
          <p:cNvPicPr>
            <a:picLocks noChangeAspect="1"/>
          </p:cNvPicPr>
          <p:nvPr/>
        </p:nvPicPr>
        <p:blipFill>
          <a:blip r:embed="rId3"/>
          <a:stretch>
            <a:fillRect/>
          </a:stretch>
        </p:blipFill>
        <p:spPr>
          <a:xfrm>
            <a:off x="746150" y="4586630"/>
            <a:ext cx="427939" cy="427939"/>
          </a:xfrm>
          <a:prstGeom prst="rect">
            <a:avLst/>
          </a:prstGeom>
        </p:spPr>
      </p:pic>
      <p:sp>
        <p:nvSpPr>
          <p:cNvPr id="13" name="Feature title 3"/>
          <p:cNvSpPr txBox="1"/>
          <p:nvPr/>
        </p:nvSpPr>
        <p:spPr>
          <a:xfrm>
            <a:off x="1600200" y="4370832"/>
            <a:ext cx="4023360" cy="411480"/>
          </a:xfrm>
          <a:prstGeom prst="rect">
            <a:avLst/>
          </a:prstGeom>
          <a:noFill/>
          <a:ln/>
        </p:spPr>
        <p:txBody>
          <a:bodyPr wrap="square" lIns="0" tIns="0" rIns="0" bIns="0" rtlCol="0" anchor="ctr"/>
          <a:lstStyle/>
          <a:p>
            <a:pPr indent="0" marL="0">
              <a:buNone/>
            </a:pPr>
            <a:r>
              <a:rPr lang="en-US" sz="2000" b="1" dirty="0">
                <a:solidFill>
                  <a:schemeClr val="tx1"/>
                </a:solidFill>
              </a:rPr>
              <a:t>Know at a glance</a:t>
            </a:r>
            <a:endParaRPr lang="en-US" sz="2000" dirty="0"/>
          </a:p>
        </p:txBody>
      </p:sp>
      <p:sp>
        <p:nvSpPr>
          <p:cNvPr id="14" name="Feature text 3"/>
          <p:cNvSpPr txBox="1"/>
          <p:nvPr/>
        </p:nvSpPr>
        <p:spPr>
          <a:xfrm>
            <a:off x="1600200" y="4800600"/>
            <a:ext cx="4023360" cy="685800"/>
          </a:xfrm>
          <a:prstGeom prst="rect">
            <a:avLst/>
          </a:prstGeom>
          <a:noFill/>
          <a:ln/>
        </p:spPr>
        <p:txBody>
          <a:bodyPr wrap="square" lIns="0" tIns="0" rIns="0" bIns="0" rtlCol="0" anchor="t"/>
          <a:lstStyle/>
          <a:p>
            <a:pPr indent="0" marL="0">
              <a:buNone/>
            </a:pPr>
            <a:r>
              <a:rPr lang="en-US" sz="1500" dirty="0">
                <a:solidFill>
                  <a:schemeClr val="accent5"/>
                </a:solidFill>
              </a:rPr>
              <a:t>Totals, items expiring within 3 days, expired items and categories</a:t>
            </a:r>
            <a:endParaRPr lang="en-US" sz="1500" dirty="0"/>
          </a:p>
        </p:txBody>
      </p:sp>
      <p:pic>
        <p:nvPicPr>
          <p:cNvPr id="15" name="UI screenshot" descr="UI screenshot">    </p:cNvPr>
          <p:cNvPicPr>
            <a:picLocks noChangeAspect="1"/>
          </p:cNvPicPr>
          <p:nvPr/>
        </p:nvPicPr>
        <p:blipFill>
          <a:blip r:embed="rId4"/>
          <a:stretch>
            <a:fillRect/>
          </a:stretch>
        </p:blipFill>
        <p:spPr>
          <a:xfrm>
            <a:off x="6035040" y="1488717"/>
            <a:ext cx="5577840" cy="4429205"/>
          </a:xfrm>
          <a:prstGeom prst="rect">
            <a:avLst/>
          </a:prstGeom>
          <a:effectLst>
            <a:outerShdw sx="100000" sy="100000" kx="0" ky="0" algn="bl" rotWithShape="0" blurRad="101600" dist="25400" dir="5400000">
              <a:srgbClr val="000000">
                <a:alpha val="18000"/>
              </a:srgbClr>
            </a:outerShdw>
          </a:effectLst>
        </p:spPr>
      </p:pic>
      <p:sp>
        <p:nvSpPr>
          <p:cNvPr id="16" name="UI screenshot frame"/>
          <p:cNvSpPr/>
          <p:nvPr/>
        </p:nvSpPr>
        <p:spPr>
          <a:xfrm>
            <a:off x="6035040" y="1488717"/>
            <a:ext cx="5577840" cy="4429205"/>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What I built: 10 modules, one pipeline</a:t>
            </a:r>
            <a:endParaRPr lang="en-US" sz="3400" dirty="0"/>
          </a:p>
        </p:txBody>
      </p:sp>
      <p:sp>
        <p:nvSpPr>
          <p:cNvPr id="3" name="Module card 1"/>
          <p:cNvSpPr/>
          <p:nvPr/>
        </p:nvSpPr>
        <p:spPr>
          <a:xfrm>
            <a:off x="548640" y="1417320"/>
            <a:ext cx="2029968" cy="2103120"/>
          </a:xfrm>
          <a:prstGeom prst="roundRect">
            <a:avLst>
              <a:gd name="adj" fmla="val 5405"/>
            </a:avLst>
          </a:prstGeom>
          <a:solidFill>
            <a:srgbClr val="EEF4F0"/>
          </a:solidFill>
          <a:ln/>
        </p:spPr>
      </p:sp>
      <p:sp>
        <p:nvSpPr>
          <p:cNvPr id="4" name="Module 1 circle"/>
          <p:cNvSpPr/>
          <p:nvPr/>
        </p:nvSpPr>
        <p:spPr>
          <a:xfrm>
            <a:off x="731520" y="1618488"/>
            <a:ext cx="658368" cy="658368"/>
          </a:xfrm>
          <a:prstGeom prst="ellipse">
            <a:avLst/>
          </a:prstGeom>
          <a:solidFill>
            <a:srgbClr val="2F7D5B"/>
          </a:solidFill>
          <a:ln/>
        </p:spPr>
      </p:sp>
      <p:pic>
        <p:nvPicPr>
          <p:cNvPr id="5" name="Module 1 icon" descr="preencoded.png">    </p:cNvPr>
          <p:cNvPicPr>
            <a:picLocks noChangeAspect="1"/>
          </p:cNvPicPr>
          <p:nvPr/>
        </p:nvPicPr>
        <p:blipFill>
          <a:blip r:embed="rId1"/>
          <a:stretch>
            <a:fillRect/>
          </a:stretch>
        </p:blipFill>
        <p:spPr>
          <a:xfrm>
            <a:off x="889528" y="1776496"/>
            <a:ext cx="342351" cy="342351"/>
          </a:xfrm>
          <a:prstGeom prst="rect">
            <a:avLst/>
          </a:prstGeom>
        </p:spPr>
      </p:pic>
      <p:sp>
        <p:nvSpPr>
          <p:cNvPr id="6" name="Module number 1"/>
          <p:cNvSpPr txBox="1"/>
          <p:nvPr/>
        </p:nvSpPr>
        <p:spPr>
          <a:xfrm>
            <a:off x="1737360" y="169164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M1</a:t>
            </a:r>
            <a:endParaRPr lang="en-US" sz="1300" dirty="0"/>
          </a:p>
        </p:txBody>
      </p:sp>
      <p:sp>
        <p:nvSpPr>
          <p:cNvPr id="7" name="Module name 1"/>
          <p:cNvSpPr txBox="1"/>
          <p:nvPr/>
        </p:nvSpPr>
        <p:spPr>
          <a:xfrm>
            <a:off x="731520" y="239572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App</a:t>
            </a:r>
            <a:endParaRPr lang="en-US" sz="1700" dirty="0"/>
          </a:p>
        </p:txBody>
      </p:sp>
      <p:sp>
        <p:nvSpPr>
          <p:cNvPr id="8" name="Module text 1"/>
          <p:cNvSpPr txBox="1"/>
          <p:nvPr/>
        </p:nvSpPr>
        <p:spPr>
          <a:xfrm>
            <a:off x="731520" y="278892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React + FastAPI + PostgreSQL</a:t>
            </a:r>
            <a:endParaRPr lang="en-US" sz="1300" dirty="0"/>
          </a:p>
        </p:txBody>
      </p:sp>
      <p:sp>
        <p:nvSpPr>
          <p:cNvPr id="9" name="Module card 2"/>
          <p:cNvSpPr/>
          <p:nvPr/>
        </p:nvSpPr>
        <p:spPr>
          <a:xfrm>
            <a:off x="2798064" y="1417320"/>
            <a:ext cx="2029968" cy="2103120"/>
          </a:xfrm>
          <a:prstGeom prst="roundRect">
            <a:avLst>
              <a:gd name="adj" fmla="val 5405"/>
            </a:avLst>
          </a:prstGeom>
          <a:solidFill>
            <a:srgbClr val="EEF4F0"/>
          </a:solidFill>
          <a:ln/>
        </p:spPr>
      </p:sp>
      <p:sp>
        <p:nvSpPr>
          <p:cNvPr id="10" name="Module 2 circle"/>
          <p:cNvSpPr/>
          <p:nvPr/>
        </p:nvSpPr>
        <p:spPr>
          <a:xfrm>
            <a:off x="2980944" y="1618488"/>
            <a:ext cx="658368" cy="658368"/>
          </a:xfrm>
          <a:prstGeom prst="ellipse">
            <a:avLst/>
          </a:prstGeom>
          <a:solidFill>
            <a:srgbClr val="2F7D5B"/>
          </a:solidFill>
          <a:ln/>
        </p:spPr>
      </p:sp>
      <p:pic>
        <p:nvPicPr>
          <p:cNvPr id="11" name="Module 2 icon" descr="preencoded.png">    </p:cNvPr>
          <p:cNvPicPr>
            <a:picLocks noChangeAspect="1"/>
          </p:cNvPicPr>
          <p:nvPr/>
        </p:nvPicPr>
        <p:blipFill>
          <a:blip r:embed="rId2"/>
          <a:stretch>
            <a:fillRect/>
          </a:stretch>
        </p:blipFill>
        <p:spPr>
          <a:xfrm>
            <a:off x="3138952" y="1776496"/>
            <a:ext cx="342351" cy="342351"/>
          </a:xfrm>
          <a:prstGeom prst="rect">
            <a:avLst/>
          </a:prstGeom>
        </p:spPr>
      </p:pic>
      <p:sp>
        <p:nvSpPr>
          <p:cNvPr id="12" name="Module number 2"/>
          <p:cNvSpPr txBox="1"/>
          <p:nvPr/>
        </p:nvSpPr>
        <p:spPr>
          <a:xfrm>
            <a:off x="3986784" y="169164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M2</a:t>
            </a:r>
            <a:endParaRPr lang="en-US" sz="1300" dirty="0"/>
          </a:p>
        </p:txBody>
      </p:sp>
      <p:sp>
        <p:nvSpPr>
          <p:cNvPr id="13" name="Module name 2"/>
          <p:cNvSpPr txBox="1"/>
          <p:nvPr/>
        </p:nvSpPr>
        <p:spPr>
          <a:xfrm>
            <a:off x="2980944" y="239572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Testing</a:t>
            </a:r>
            <a:endParaRPr lang="en-US" sz="1700" dirty="0"/>
          </a:p>
        </p:txBody>
      </p:sp>
      <p:sp>
        <p:nvSpPr>
          <p:cNvPr id="14" name="Module text 2"/>
          <p:cNvSpPr txBox="1"/>
          <p:nvPr/>
        </p:nvSpPr>
        <p:spPr>
          <a:xfrm>
            <a:off x="2980944" y="278892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19 pytest tests, ruff lint</a:t>
            </a:r>
            <a:endParaRPr lang="en-US" sz="1300" dirty="0"/>
          </a:p>
        </p:txBody>
      </p:sp>
      <p:sp>
        <p:nvSpPr>
          <p:cNvPr id="15" name="Module card 3"/>
          <p:cNvSpPr/>
          <p:nvPr/>
        </p:nvSpPr>
        <p:spPr>
          <a:xfrm>
            <a:off x="5047488" y="1417320"/>
            <a:ext cx="2029968" cy="2103120"/>
          </a:xfrm>
          <a:prstGeom prst="roundRect">
            <a:avLst>
              <a:gd name="adj" fmla="val 5405"/>
            </a:avLst>
          </a:prstGeom>
          <a:solidFill>
            <a:srgbClr val="EEF4F0"/>
          </a:solidFill>
          <a:ln/>
        </p:spPr>
      </p:sp>
      <p:sp>
        <p:nvSpPr>
          <p:cNvPr id="16" name="Module 3 circle"/>
          <p:cNvSpPr/>
          <p:nvPr/>
        </p:nvSpPr>
        <p:spPr>
          <a:xfrm>
            <a:off x="5230368" y="1618488"/>
            <a:ext cx="658368" cy="658368"/>
          </a:xfrm>
          <a:prstGeom prst="ellipse">
            <a:avLst/>
          </a:prstGeom>
          <a:solidFill>
            <a:srgbClr val="2F7D5B"/>
          </a:solidFill>
          <a:ln/>
        </p:spPr>
      </p:sp>
      <p:pic>
        <p:nvPicPr>
          <p:cNvPr id="17" name="Module 3 icon" descr="preencoded.png">    </p:cNvPr>
          <p:cNvPicPr>
            <a:picLocks noChangeAspect="1"/>
          </p:cNvPicPr>
          <p:nvPr/>
        </p:nvPicPr>
        <p:blipFill>
          <a:blip r:embed="rId3"/>
          <a:stretch>
            <a:fillRect/>
          </a:stretch>
        </p:blipFill>
        <p:spPr>
          <a:xfrm>
            <a:off x="5388376" y="1776496"/>
            <a:ext cx="342351" cy="342351"/>
          </a:xfrm>
          <a:prstGeom prst="rect">
            <a:avLst/>
          </a:prstGeom>
        </p:spPr>
      </p:pic>
      <p:sp>
        <p:nvSpPr>
          <p:cNvPr id="18" name="Module number 3"/>
          <p:cNvSpPr txBox="1"/>
          <p:nvPr/>
        </p:nvSpPr>
        <p:spPr>
          <a:xfrm>
            <a:off x="6236208" y="169164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M3</a:t>
            </a:r>
            <a:endParaRPr lang="en-US" sz="1300" dirty="0"/>
          </a:p>
        </p:txBody>
      </p:sp>
      <p:sp>
        <p:nvSpPr>
          <p:cNvPr id="19" name="Module name 3"/>
          <p:cNvSpPr txBox="1"/>
          <p:nvPr/>
        </p:nvSpPr>
        <p:spPr>
          <a:xfrm>
            <a:off x="5230368" y="239572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Git</a:t>
            </a:r>
            <a:endParaRPr lang="en-US" sz="1700" dirty="0"/>
          </a:p>
        </p:txBody>
      </p:sp>
      <p:sp>
        <p:nvSpPr>
          <p:cNvPr id="20" name="Module text 3"/>
          <p:cNvSpPr txBox="1"/>
          <p:nvPr/>
        </p:nvSpPr>
        <p:spPr>
          <a:xfrm>
            <a:off x="5230368" y="278892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Small, descriptive commits</a:t>
            </a:r>
            <a:endParaRPr lang="en-US" sz="1300" dirty="0"/>
          </a:p>
        </p:txBody>
      </p:sp>
      <p:sp>
        <p:nvSpPr>
          <p:cNvPr id="21" name="Module card 4"/>
          <p:cNvSpPr/>
          <p:nvPr/>
        </p:nvSpPr>
        <p:spPr>
          <a:xfrm>
            <a:off x="7296912" y="1417320"/>
            <a:ext cx="2029968" cy="2103120"/>
          </a:xfrm>
          <a:prstGeom prst="roundRect">
            <a:avLst>
              <a:gd name="adj" fmla="val 5405"/>
            </a:avLst>
          </a:prstGeom>
          <a:solidFill>
            <a:srgbClr val="EEF4F0"/>
          </a:solidFill>
          <a:ln/>
        </p:spPr>
      </p:sp>
      <p:sp>
        <p:nvSpPr>
          <p:cNvPr id="22" name="Module 4 circle"/>
          <p:cNvSpPr/>
          <p:nvPr/>
        </p:nvSpPr>
        <p:spPr>
          <a:xfrm>
            <a:off x="7479792" y="1618488"/>
            <a:ext cx="658368" cy="658368"/>
          </a:xfrm>
          <a:prstGeom prst="ellipse">
            <a:avLst/>
          </a:prstGeom>
          <a:solidFill>
            <a:srgbClr val="2F7D5B"/>
          </a:solidFill>
          <a:ln/>
        </p:spPr>
      </p:sp>
      <p:pic>
        <p:nvPicPr>
          <p:cNvPr id="23" name="Module 4 icon" descr="preencoded.png">    </p:cNvPr>
          <p:cNvPicPr>
            <a:picLocks noChangeAspect="1"/>
          </p:cNvPicPr>
          <p:nvPr/>
        </p:nvPicPr>
        <p:blipFill>
          <a:blip r:embed="rId4"/>
          <a:stretch>
            <a:fillRect/>
          </a:stretch>
        </p:blipFill>
        <p:spPr>
          <a:xfrm>
            <a:off x="7637800" y="1776496"/>
            <a:ext cx="342351" cy="342351"/>
          </a:xfrm>
          <a:prstGeom prst="rect">
            <a:avLst/>
          </a:prstGeom>
        </p:spPr>
      </p:pic>
      <p:sp>
        <p:nvSpPr>
          <p:cNvPr id="24" name="Module number 4"/>
          <p:cNvSpPr txBox="1"/>
          <p:nvPr/>
        </p:nvSpPr>
        <p:spPr>
          <a:xfrm>
            <a:off x="8485632" y="169164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M4</a:t>
            </a:r>
            <a:endParaRPr lang="en-US" sz="1300" dirty="0"/>
          </a:p>
        </p:txBody>
      </p:sp>
      <p:sp>
        <p:nvSpPr>
          <p:cNvPr id="25" name="Module name 4"/>
          <p:cNvSpPr txBox="1"/>
          <p:nvPr/>
        </p:nvSpPr>
        <p:spPr>
          <a:xfrm>
            <a:off x="7479792" y="239572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Docker</a:t>
            </a:r>
            <a:endParaRPr lang="en-US" sz="1700" dirty="0"/>
          </a:p>
        </p:txBody>
      </p:sp>
      <p:sp>
        <p:nvSpPr>
          <p:cNvPr id="26" name="Module text 4"/>
          <p:cNvSpPr txBox="1"/>
          <p:nvPr/>
        </p:nvSpPr>
        <p:spPr>
          <a:xfrm>
            <a:off x="7479792" y="278892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Multi-stage, non-root, Compose</a:t>
            </a:r>
            <a:endParaRPr lang="en-US" sz="1300" dirty="0"/>
          </a:p>
        </p:txBody>
      </p:sp>
      <p:sp>
        <p:nvSpPr>
          <p:cNvPr id="27" name="Module card 5"/>
          <p:cNvSpPr/>
          <p:nvPr/>
        </p:nvSpPr>
        <p:spPr>
          <a:xfrm>
            <a:off x="9546336" y="1417320"/>
            <a:ext cx="2029968" cy="2103120"/>
          </a:xfrm>
          <a:prstGeom prst="roundRect">
            <a:avLst>
              <a:gd name="adj" fmla="val 5405"/>
            </a:avLst>
          </a:prstGeom>
          <a:solidFill>
            <a:srgbClr val="EEF4F0"/>
          </a:solidFill>
          <a:ln/>
        </p:spPr>
      </p:sp>
      <p:sp>
        <p:nvSpPr>
          <p:cNvPr id="28" name="Module 5 circle"/>
          <p:cNvSpPr/>
          <p:nvPr/>
        </p:nvSpPr>
        <p:spPr>
          <a:xfrm>
            <a:off x="9729216" y="1618488"/>
            <a:ext cx="658368" cy="658368"/>
          </a:xfrm>
          <a:prstGeom prst="ellipse">
            <a:avLst/>
          </a:prstGeom>
          <a:solidFill>
            <a:srgbClr val="2F7D5B"/>
          </a:solidFill>
          <a:ln/>
        </p:spPr>
      </p:sp>
      <p:pic>
        <p:nvPicPr>
          <p:cNvPr id="29" name="Module 5 icon" descr="preencoded.png">    </p:cNvPr>
          <p:cNvPicPr>
            <a:picLocks noChangeAspect="1"/>
          </p:cNvPicPr>
          <p:nvPr/>
        </p:nvPicPr>
        <p:blipFill>
          <a:blip r:embed="rId5"/>
          <a:stretch>
            <a:fillRect/>
          </a:stretch>
        </p:blipFill>
        <p:spPr>
          <a:xfrm>
            <a:off x="9887224" y="1776496"/>
            <a:ext cx="342351" cy="342351"/>
          </a:xfrm>
          <a:prstGeom prst="rect">
            <a:avLst/>
          </a:prstGeom>
        </p:spPr>
      </p:pic>
      <p:sp>
        <p:nvSpPr>
          <p:cNvPr id="30" name="Module number 5"/>
          <p:cNvSpPr txBox="1"/>
          <p:nvPr/>
        </p:nvSpPr>
        <p:spPr>
          <a:xfrm>
            <a:off x="10735056" y="169164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M5</a:t>
            </a:r>
            <a:endParaRPr lang="en-US" sz="1300" dirty="0"/>
          </a:p>
        </p:txBody>
      </p:sp>
      <p:sp>
        <p:nvSpPr>
          <p:cNvPr id="31" name="Module name 5"/>
          <p:cNvSpPr txBox="1"/>
          <p:nvPr/>
        </p:nvSpPr>
        <p:spPr>
          <a:xfrm>
            <a:off x="9729216" y="239572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CI/CD</a:t>
            </a:r>
            <a:endParaRPr lang="en-US" sz="1700" dirty="0"/>
          </a:p>
        </p:txBody>
      </p:sp>
      <p:sp>
        <p:nvSpPr>
          <p:cNvPr id="32" name="Module text 5"/>
          <p:cNvSpPr txBox="1"/>
          <p:nvPr/>
        </p:nvSpPr>
        <p:spPr>
          <a:xfrm>
            <a:off x="9729216" y="278892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Test → build → push → deploy</a:t>
            </a:r>
            <a:endParaRPr lang="en-US" sz="1300" dirty="0"/>
          </a:p>
        </p:txBody>
      </p:sp>
      <p:sp>
        <p:nvSpPr>
          <p:cNvPr id="33" name="Module card 6"/>
          <p:cNvSpPr/>
          <p:nvPr/>
        </p:nvSpPr>
        <p:spPr>
          <a:xfrm>
            <a:off x="548640" y="3794760"/>
            <a:ext cx="2029968" cy="2103120"/>
          </a:xfrm>
          <a:prstGeom prst="roundRect">
            <a:avLst>
              <a:gd name="adj" fmla="val 5405"/>
            </a:avLst>
          </a:prstGeom>
          <a:solidFill>
            <a:srgbClr val="EEF4F0"/>
          </a:solidFill>
          <a:ln/>
        </p:spPr>
      </p:sp>
      <p:sp>
        <p:nvSpPr>
          <p:cNvPr id="34" name="Module 6 circle"/>
          <p:cNvSpPr/>
          <p:nvPr/>
        </p:nvSpPr>
        <p:spPr>
          <a:xfrm>
            <a:off x="731520" y="3995928"/>
            <a:ext cx="658368" cy="658368"/>
          </a:xfrm>
          <a:prstGeom prst="ellipse">
            <a:avLst/>
          </a:prstGeom>
          <a:solidFill>
            <a:srgbClr val="2F7D5B"/>
          </a:solidFill>
          <a:ln/>
        </p:spPr>
      </p:sp>
      <p:pic>
        <p:nvPicPr>
          <p:cNvPr id="35" name="Module 6 icon" descr="preencoded.png">    </p:cNvPr>
          <p:cNvPicPr>
            <a:picLocks noChangeAspect="1"/>
          </p:cNvPicPr>
          <p:nvPr/>
        </p:nvPicPr>
        <p:blipFill>
          <a:blip r:embed="rId6"/>
          <a:stretch>
            <a:fillRect/>
          </a:stretch>
        </p:blipFill>
        <p:spPr>
          <a:xfrm>
            <a:off x="889528" y="4153936"/>
            <a:ext cx="342351" cy="342351"/>
          </a:xfrm>
          <a:prstGeom prst="rect">
            <a:avLst/>
          </a:prstGeom>
        </p:spPr>
      </p:pic>
      <p:sp>
        <p:nvSpPr>
          <p:cNvPr id="36" name="Module number 6"/>
          <p:cNvSpPr txBox="1"/>
          <p:nvPr/>
        </p:nvSpPr>
        <p:spPr>
          <a:xfrm>
            <a:off x="1737360" y="406908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M6</a:t>
            </a:r>
            <a:endParaRPr lang="en-US" sz="1300" dirty="0"/>
          </a:p>
        </p:txBody>
      </p:sp>
      <p:sp>
        <p:nvSpPr>
          <p:cNvPr id="37" name="Module name 6"/>
          <p:cNvSpPr txBox="1"/>
          <p:nvPr/>
        </p:nvSpPr>
        <p:spPr>
          <a:xfrm>
            <a:off x="731520" y="477316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Security</a:t>
            </a:r>
            <a:endParaRPr lang="en-US" sz="1700" dirty="0"/>
          </a:p>
        </p:txBody>
      </p:sp>
      <p:sp>
        <p:nvSpPr>
          <p:cNvPr id="38" name="Module text 6"/>
          <p:cNvSpPr txBox="1"/>
          <p:nvPr/>
        </p:nvSpPr>
        <p:spPr>
          <a:xfrm>
            <a:off x="731520" y="516636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Trivy blocks HIGH/CRITICAL CVEs</a:t>
            </a:r>
            <a:endParaRPr lang="en-US" sz="1300" dirty="0"/>
          </a:p>
        </p:txBody>
      </p:sp>
      <p:sp>
        <p:nvSpPr>
          <p:cNvPr id="39" name="Module card 7"/>
          <p:cNvSpPr/>
          <p:nvPr/>
        </p:nvSpPr>
        <p:spPr>
          <a:xfrm>
            <a:off x="2798064" y="3794760"/>
            <a:ext cx="2029968" cy="2103120"/>
          </a:xfrm>
          <a:prstGeom prst="roundRect">
            <a:avLst>
              <a:gd name="adj" fmla="val 5405"/>
            </a:avLst>
          </a:prstGeom>
          <a:solidFill>
            <a:srgbClr val="EEF4F0"/>
          </a:solidFill>
          <a:ln/>
        </p:spPr>
      </p:sp>
      <p:sp>
        <p:nvSpPr>
          <p:cNvPr id="40" name="Module 7 circle"/>
          <p:cNvSpPr/>
          <p:nvPr/>
        </p:nvSpPr>
        <p:spPr>
          <a:xfrm>
            <a:off x="2980944" y="3995928"/>
            <a:ext cx="658368" cy="658368"/>
          </a:xfrm>
          <a:prstGeom prst="ellipse">
            <a:avLst/>
          </a:prstGeom>
          <a:solidFill>
            <a:srgbClr val="2F7D5B"/>
          </a:solidFill>
          <a:ln/>
        </p:spPr>
      </p:sp>
      <p:pic>
        <p:nvPicPr>
          <p:cNvPr id="41" name="Module 7 icon" descr="preencoded.png">    </p:cNvPr>
          <p:cNvPicPr>
            <a:picLocks noChangeAspect="1"/>
          </p:cNvPicPr>
          <p:nvPr/>
        </p:nvPicPr>
        <p:blipFill>
          <a:blip r:embed="rId7"/>
          <a:stretch>
            <a:fillRect/>
          </a:stretch>
        </p:blipFill>
        <p:spPr>
          <a:xfrm>
            <a:off x="3138952" y="4153936"/>
            <a:ext cx="342351" cy="342351"/>
          </a:xfrm>
          <a:prstGeom prst="rect">
            <a:avLst/>
          </a:prstGeom>
        </p:spPr>
      </p:pic>
      <p:sp>
        <p:nvSpPr>
          <p:cNvPr id="42" name="Module number 7"/>
          <p:cNvSpPr txBox="1"/>
          <p:nvPr/>
        </p:nvSpPr>
        <p:spPr>
          <a:xfrm>
            <a:off x="3986784" y="406908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M7</a:t>
            </a:r>
            <a:endParaRPr lang="en-US" sz="1300" dirty="0"/>
          </a:p>
        </p:txBody>
      </p:sp>
      <p:sp>
        <p:nvSpPr>
          <p:cNvPr id="43" name="Module name 7"/>
          <p:cNvSpPr txBox="1"/>
          <p:nvPr/>
        </p:nvSpPr>
        <p:spPr>
          <a:xfrm>
            <a:off x="2980944" y="477316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Terraform</a:t>
            </a:r>
            <a:endParaRPr lang="en-US" sz="1700" dirty="0"/>
          </a:p>
        </p:txBody>
      </p:sp>
      <p:sp>
        <p:nvSpPr>
          <p:cNvPr id="44" name="Module text 7"/>
          <p:cNvSpPr txBox="1"/>
          <p:nvPr/>
        </p:nvSpPr>
        <p:spPr>
          <a:xfrm>
            <a:off x="2980944" y="516636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VPC + EKS as code</a:t>
            </a:r>
            <a:endParaRPr lang="en-US" sz="1300" dirty="0"/>
          </a:p>
        </p:txBody>
      </p:sp>
      <p:sp>
        <p:nvSpPr>
          <p:cNvPr id="45" name="Module card 8"/>
          <p:cNvSpPr/>
          <p:nvPr/>
        </p:nvSpPr>
        <p:spPr>
          <a:xfrm>
            <a:off x="5047488" y="3794760"/>
            <a:ext cx="2029968" cy="2103120"/>
          </a:xfrm>
          <a:prstGeom prst="roundRect">
            <a:avLst>
              <a:gd name="adj" fmla="val 5405"/>
            </a:avLst>
          </a:prstGeom>
          <a:solidFill>
            <a:srgbClr val="EEF4F0"/>
          </a:solidFill>
          <a:ln/>
        </p:spPr>
      </p:sp>
      <p:sp>
        <p:nvSpPr>
          <p:cNvPr id="46" name="Module 8 circle"/>
          <p:cNvSpPr/>
          <p:nvPr/>
        </p:nvSpPr>
        <p:spPr>
          <a:xfrm>
            <a:off x="5230368" y="3995928"/>
            <a:ext cx="658368" cy="658368"/>
          </a:xfrm>
          <a:prstGeom prst="ellipse">
            <a:avLst/>
          </a:prstGeom>
          <a:solidFill>
            <a:srgbClr val="2F7D5B"/>
          </a:solidFill>
          <a:ln/>
        </p:spPr>
      </p:sp>
      <p:pic>
        <p:nvPicPr>
          <p:cNvPr id="47" name="Module 8 icon" descr="preencoded.png">    </p:cNvPr>
          <p:cNvPicPr>
            <a:picLocks noChangeAspect="1"/>
          </p:cNvPicPr>
          <p:nvPr/>
        </p:nvPicPr>
        <p:blipFill>
          <a:blip r:embed="rId8"/>
          <a:stretch>
            <a:fillRect/>
          </a:stretch>
        </p:blipFill>
        <p:spPr>
          <a:xfrm>
            <a:off x="5388376" y="4153936"/>
            <a:ext cx="342351" cy="342351"/>
          </a:xfrm>
          <a:prstGeom prst="rect">
            <a:avLst/>
          </a:prstGeom>
        </p:spPr>
      </p:pic>
      <p:sp>
        <p:nvSpPr>
          <p:cNvPr id="48" name="Module number 8"/>
          <p:cNvSpPr txBox="1"/>
          <p:nvPr/>
        </p:nvSpPr>
        <p:spPr>
          <a:xfrm>
            <a:off x="6236208" y="406908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M8</a:t>
            </a:r>
            <a:endParaRPr lang="en-US" sz="1300" dirty="0"/>
          </a:p>
        </p:txBody>
      </p:sp>
      <p:sp>
        <p:nvSpPr>
          <p:cNvPr id="49" name="Module name 8"/>
          <p:cNvSpPr txBox="1"/>
          <p:nvPr/>
        </p:nvSpPr>
        <p:spPr>
          <a:xfrm>
            <a:off x="5230368" y="477316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Kubernetes</a:t>
            </a:r>
            <a:endParaRPr lang="en-US" sz="1700" dirty="0"/>
          </a:p>
        </p:txBody>
      </p:sp>
      <p:sp>
        <p:nvSpPr>
          <p:cNvPr id="50" name="Module text 8"/>
          <p:cNvSpPr txBox="1"/>
          <p:nvPr/>
        </p:nvSpPr>
        <p:spPr>
          <a:xfrm>
            <a:off x="5230368" y="516636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Helm chart, Ingress, 2 replicas</a:t>
            </a:r>
            <a:endParaRPr lang="en-US" sz="1300" dirty="0"/>
          </a:p>
        </p:txBody>
      </p:sp>
      <p:sp>
        <p:nvSpPr>
          <p:cNvPr id="51" name="Module card 9"/>
          <p:cNvSpPr/>
          <p:nvPr/>
        </p:nvSpPr>
        <p:spPr>
          <a:xfrm>
            <a:off x="7296912" y="3794760"/>
            <a:ext cx="2029968" cy="2103120"/>
          </a:xfrm>
          <a:prstGeom prst="roundRect">
            <a:avLst>
              <a:gd name="adj" fmla="val 5405"/>
            </a:avLst>
          </a:prstGeom>
          <a:solidFill>
            <a:srgbClr val="EEF4F0"/>
          </a:solidFill>
          <a:ln/>
        </p:spPr>
      </p:sp>
      <p:sp>
        <p:nvSpPr>
          <p:cNvPr id="52" name="Module 9 circle"/>
          <p:cNvSpPr/>
          <p:nvPr/>
        </p:nvSpPr>
        <p:spPr>
          <a:xfrm>
            <a:off x="7479792" y="3995928"/>
            <a:ext cx="658368" cy="658368"/>
          </a:xfrm>
          <a:prstGeom prst="ellipse">
            <a:avLst/>
          </a:prstGeom>
          <a:solidFill>
            <a:srgbClr val="2F7D5B"/>
          </a:solidFill>
          <a:ln/>
        </p:spPr>
      </p:sp>
      <p:pic>
        <p:nvPicPr>
          <p:cNvPr id="53" name="Module 9 icon" descr="preencoded.png">    </p:cNvPr>
          <p:cNvPicPr>
            <a:picLocks noChangeAspect="1"/>
          </p:cNvPicPr>
          <p:nvPr/>
        </p:nvPicPr>
        <p:blipFill>
          <a:blip r:embed="rId9"/>
          <a:stretch>
            <a:fillRect/>
          </a:stretch>
        </p:blipFill>
        <p:spPr>
          <a:xfrm>
            <a:off x="7637800" y="4153936"/>
            <a:ext cx="342351" cy="342351"/>
          </a:xfrm>
          <a:prstGeom prst="rect">
            <a:avLst/>
          </a:prstGeom>
        </p:spPr>
      </p:pic>
      <p:sp>
        <p:nvSpPr>
          <p:cNvPr id="54" name="Module number 9"/>
          <p:cNvSpPr txBox="1"/>
          <p:nvPr/>
        </p:nvSpPr>
        <p:spPr>
          <a:xfrm>
            <a:off x="8485632" y="406908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M9</a:t>
            </a:r>
            <a:endParaRPr lang="en-US" sz="1300" dirty="0"/>
          </a:p>
        </p:txBody>
      </p:sp>
      <p:sp>
        <p:nvSpPr>
          <p:cNvPr id="55" name="Module name 9"/>
          <p:cNvSpPr txBox="1"/>
          <p:nvPr/>
        </p:nvSpPr>
        <p:spPr>
          <a:xfrm>
            <a:off x="7479792" y="477316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Monitoring</a:t>
            </a:r>
            <a:endParaRPr lang="en-US" sz="1700" dirty="0"/>
          </a:p>
        </p:txBody>
      </p:sp>
      <p:sp>
        <p:nvSpPr>
          <p:cNvPr id="56" name="Module text 9"/>
          <p:cNvSpPr txBox="1"/>
          <p:nvPr/>
        </p:nvSpPr>
        <p:spPr>
          <a:xfrm>
            <a:off x="7479792" y="516636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Prometheus + Grafana dashboard</a:t>
            </a:r>
            <a:endParaRPr lang="en-US" sz="1300" dirty="0"/>
          </a:p>
        </p:txBody>
      </p:sp>
      <p:sp>
        <p:nvSpPr>
          <p:cNvPr id="57" name="Module card 10"/>
          <p:cNvSpPr/>
          <p:nvPr/>
        </p:nvSpPr>
        <p:spPr>
          <a:xfrm>
            <a:off x="9546336" y="3794760"/>
            <a:ext cx="2029968" cy="2103120"/>
          </a:xfrm>
          <a:prstGeom prst="roundRect">
            <a:avLst>
              <a:gd name="adj" fmla="val 5405"/>
            </a:avLst>
          </a:prstGeom>
          <a:solidFill>
            <a:srgbClr val="EEF4F0"/>
          </a:solidFill>
          <a:ln/>
        </p:spPr>
      </p:sp>
      <p:sp>
        <p:nvSpPr>
          <p:cNvPr id="58" name="Module 10 circle"/>
          <p:cNvSpPr/>
          <p:nvPr/>
        </p:nvSpPr>
        <p:spPr>
          <a:xfrm>
            <a:off x="9729216" y="3995928"/>
            <a:ext cx="658368" cy="658368"/>
          </a:xfrm>
          <a:prstGeom prst="ellipse">
            <a:avLst/>
          </a:prstGeom>
          <a:solidFill>
            <a:srgbClr val="2F7D5B"/>
          </a:solidFill>
          <a:ln/>
        </p:spPr>
      </p:sp>
      <p:pic>
        <p:nvPicPr>
          <p:cNvPr id="59" name="Module 10 icon" descr="preencoded.png">    </p:cNvPr>
          <p:cNvPicPr>
            <a:picLocks noChangeAspect="1"/>
          </p:cNvPicPr>
          <p:nvPr/>
        </p:nvPicPr>
        <p:blipFill>
          <a:blip r:embed="rId10"/>
          <a:stretch>
            <a:fillRect/>
          </a:stretch>
        </p:blipFill>
        <p:spPr>
          <a:xfrm>
            <a:off x="9887224" y="4153936"/>
            <a:ext cx="342351" cy="342351"/>
          </a:xfrm>
          <a:prstGeom prst="rect">
            <a:avLst/>
          </a:prstGeom>
        </p:spPr>
      </p:pic>
      <p:sp>
        <p:nvSpPr>
          <p:cNvPr id="60" name="Module number 10"/>
          <p:cNvSpPr txBox="1"/>
          <p:nvPr/>
        </p:nvSpPr>
        <p:spPr>
          <a:xfrm>
            <a:off x="10735056" y="4069080"/>
            <a:ext cx="685800" cy="365760"/>
          </a:xfrm>
          <a:prstGeom prst="rect">
            <a:avLst/>
          </a:prstGeom>
          <a:noFill/>
          <a:ln/>
        </p:spPr>
        <p:txBody>
          <a:bodyPr wrap="square" lIns="0" tIns="0" rIns="0" bIns="0" rtlCol="0" anchor="ctr"/>
          <a:lstStyle/>
          <a:p>
            <a:pPr algn="r" indent="0" marL="0">
              <a:buNone/>
            </a:pPr>
            <a:r>
              <a:rPr lang="en-US" sz="1300" b="1" dirty="0">
                <a:solidFill>
                  <a:schemeClr val="accent1"/>
                </a:solidFill>
              </a:rPr>
              <a:t>M10</a:t>
            </a:r>
            <a:endParaRPr lang="en-US" sz="1300" dirty="0"/>
          </a:p>
        </p:txBody>
      </p:sp>
      <p:sp>
        <p:nvSpPr>
          <p:cNvPr id="61" name="Module name 10"/>
          <p:cNvSpPr txBox="1"/>
          <p:nvPr/>
        </p:nvSpPr>
        <p:spPr>
          <a:xfrm>
            <a:off x="9729216" y="4773168"/>
            <a:ext cx="1664208" cy="365760"/>
          </a:xfrm>
          <a:prstGeom prst="rect">
            <a:avLst/>
          </a:prstGeom>
          <a:noFill/>
          <a:ln/>
        </p:spPr>
        <p:txBody>
          <a:bodyPr wrap="square" lIns="0" tIns="0" rIns="0" bIns="0" rtlCol="0" anchor="ctr"/>
          <a:lstStyle/>
          <a:p>
            <a:pPr indent="0" marL="0">
              <a:buNone/>
            </a:pPr>
            <a:r>
              <a:rPr lang="en-US" sz="1700" b="1" dirty="0">
                <a:solidFill>
                  <a:schemeClr val="tx1"/>
                </a:solidFill>
              </a:rPr>
              <a:t>Docs</a:t>
            </a:r>
            <a:endParaRPr lang="en-US" sz="1700" dirty="0"/>
          </a:p>
        </p:txBody>
      </p:sp>
      <p:sp>
        <p:nvSpPr>
          <p:cNvPr id="62" name="Module text 10"/>
          <p:cNvSpPr txBox="1"/>
          <p:nvPr/>
        </p:nvSpPr>
        <p:spPr>
          <a:xfrm>
            <a:off x="9729216" y="5166360"/>
            <a:ext cx="1664208" cy="594360"/>
          </a:xfrm>
          <a:prstGeom prst="rect">
            <a:avLst/>
          </a:prstGeom>
          <a:noFill/>
          <a:ln/>
        </p:spPr>
        <p:txBody>
          <a:bodyPr wrap="square" lIns="0" tIns="0" rIns="0" bIns="0" rtlCol="0" anchor="t"/>
          <a:lstStyle/>
          <a:p>
            <a:pPr indent="0" marL="0">
              <a:buNone/>
            </a:pPr>
            <a:r>
              <a:rPr lang="en-US" sz="1300" dirty="0">
                <a:solidFill>
                  <a:schemeClr val="accent5"/>
                </a:solidFill>
              </a:rPr>
              <a:t>README with every screenshot</a:t>
            </a:r>
            <a:endParaRPr lang="en-US" sz="13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How the pieces fit together</a:t>
            </a:r>
            <a:endParaRPr lang="en-US" sz="3400" dirty="0"/>
          </a:p>
        </p:txBody>
      </p:sp>
      <p:sp>
        <p:nvSpPr>
          <p:cNvPr id="3" name="Developer"/>
          <p:cNvSpPr/>
          <p:nvPr/>
        </p:nvSpPr>
        <p:spPr>
          <a:xfrm>
            <a:off x="548640" y="1463040"/>
            <a:ext cx="2103120" cy="822960"/>
          </a:xfrm>
          <a:prstGeom prst="roundRect">
            <a:avLst>
              <a:gd name="adj" fmla="val 8889"/>
            </a:avLst>
          </a:prstGeom>
          <a:solidFill>
            <a:srgbClr val="FFFFFF"/>
          </a:solidFill>
          <a:ln w="12700">
            <a:solidFill>
              <a:srgbClr val="C9D4CD"/>
            </a:solidFill>
            <a:prstDash val="solid"/>
          </a:ln>
        </p:spPr>
      </p:sp>
      <p:sp>
        <p:nvSpPr>
          <p:cNvPr id="4" name="Developer text"/>
          <p:cNvSpPr txBox="1"/>
          <p:nvPr/>
        </p:nvSpPr>
        <p:spPr>
          <a:xfrm>
            <a:off x="621792" y="1463040"/>
            <a:ext cx="1956816" cy="822960"/>
          </a:xfrm>
          <a:prstGeom prst="rect">
            <a:avLst/>
          </a:prstGeom>
          <a:noFill/>
          <a:ln/>
        </p:spPr>
        <p:txBody>
          <a:bodyPr wrap="square" lIns="0" tIns="0" rIns="0" bIns="0" rtlCol="0" anchor="ctr"/>
          <a:lstStyle/>
          <a:p>
            <a:pPr algn="ctr" indent="0" marL="0">
              <a:buNone/>
            </a:pPr>
            <a:r>
              <a:rPr lang="en-US" sz="1300" b="1" dirty="0">
                <a:solidFill>
                  <a:srgbClr val="1F2A24"/>
                </a:solidFill>
              </a:rPr>
              <a:t>Developer</a:t>
            </a:r>
            <a:endParaRPr lang="en-US" sz="1300" dirty="0"/>
          </a:p>
          <a:p>
            <a:pPr algn="ctr" indent="0" marL="0">
              <a:buNone/>
            </a:pPr>
            <a:r>
              <a:rPr lang="en-US" sz="1050" dirty="0">
                <a:solidFill>
                  <a:srgbClr val="1F2A24"/>
                </a:solidFill>
              </a:rPr>
              <a:t>git push main</a:t>
            </a:r>
            <a:endParaRPr lang="en-US" sz="1300" dirty="0"/>
          </a:p>
        </p:txBody>
      </p:sp>
      <p:sp>
        <p:nvSpPr>
          <p:cNvPr id="5" name="Arrow dev to CI"/>
          <p:cNvSpPr/>
          <p:nvPr/>
        </p:nvSpPr>
        <p:spPr>
          <a:xfrm>
            <a:off x="1600200" y="2286000"/>
            <a:ext cx="0" cy="502920"/>
          </a:xfrm>
          <a:prstGeom prst="line">
            <a:avLst/>
          </a:prstGeom>
          <a:noFill/>
          <a:ln w="19050">
            <a:solidFill>
              <a:srgbClr val="6B766F"/>
            </a:solidFill>
            <a:prstDash val="solid"/>
            <a:tailEnd type="triangle"/>
          </a:ln>
        </p:spPr>
      </p:sp>
      <p:sp>
        <p:nvSpPr>
          <p:cNvPr id="6" name="GitHub Actions"/>
          <p:cNvSpPr/>
          <p:nvPr/>
        </p:nvSpPr>
        <p:spPr>
          <a:xfrm>
            <a:off x="548640" y="2788920"/>
            <a:ext cx="2103120" cy="1188720"/>
          </a:xfrm>
          <a:prstGeom prst="roundRect">
            <a:avLst>
              <a:gd name="adj" fmla="val 6154"/>
            </a:avLst>
          </a:prstGeom>
          <a:solidFill>
            <a:srgbClr val="2F7D5B"/>
          </a:solidFill>
          <a:ln w="12700">
            <a:solidFill>
              <a:srgbClr val="2F7D5B"/>
            </a:solidFill>
            <a:prstDash val="solid"/>
          </a:ln>
        </p:spPr>
      </p:sp>
      <p:sp>
        <p:nvSpPr>
          <p:cNvPr id="7" name="GitHub Actions text"/>
          <p:cNvSpPr txBox="1"/>
          <p:nvPr/>
        </p:nvSpPr>
        <p:spPr>
          <a:xfrm>
            <a:off x="621792" y="2788920"/>
            <a:ext cx="1956816" cy="1188720"/>
          </a:xfrm>
          <a:prstGeom prst="rect">
            <a:avLst/>
          </a:prstGeom>
          <a:noFill/>
          <a:ln/>
        </p:spPr>
        <p:txBody>
          <a:bodyPr wrap="square" lIns="0" tIns="0" rIns="0" bIns="0" rtlCol="0" anchor="ctr"/>
          <a:lstStyle/>
          <a:p>
            <a:pPr algn="ctr" indent="0" marL="0">
              <a:buNone/>
            </a:pPr>
            <a:r>
              <a:rPr lang="en-US" sz="1300" b="1" dirty="0">
                <a:solidFill>
                  <a:srgbClr val="FFFFFF"/>
                </a:solidFill>
              </a:rPr>
              <a:t>GitHub Actions</a:t>
            </a:r>
            <a:endParaRPr lang="en-US" sz="1300" dirty="0"/>
          </a:p>
          <a:p>
            <a:pPr algn="ctr" indent="0" marL="0">
              <a:buNone/>
            </a:pPr>
            <a:r>
              <a:rPr lang="en-US" sz="1050" dirty="0">
                <a:solidFill>
                  <a:srgbClr val="FFFFFF"/>
                </a:solidFill>
              </a:rPr>
              <a:t>test · build · Trivy · push · deploy</a:t>
            </a:r>
            <a:endParaRPr lang="en-US" sz="1300" dirty="0"/>
          </a:p>
        </p:txBody>
      </p:sp>
      <p:sp>
        <p:nvSpPr>
          <p:cNvPr id="8" name="Arrow CI to GHCR"/>
          <p:cNvSpPr/>
          <p:nvPr/>
        </p:nvSpPr>
        <p:spPr>
          <a:xfrm>
            <a:off x="1600200" y="3977640"/>
            <a:ext cx="0" cy="502920"/>
          </a:xfrm>
          <a:prstGeom prst="line">
            <a:avLst/>
          </a:prstGeom>
          <a:noFill/>
          <a:ln w="19050">
            <a:solidFill>
              <a:srgbClr val="6B766F"/>
            </a:solidFill>
            <a:prstDash val="solid"/>
            <a:tailEnd type="triangle"/>
          </a:ln>
        </p:spPr>
      </p:sp>
      <p:sp>
        <p:nvSpPr>
          <p:cNvPr id="9" name="GHCR"/>
          <p:cNvSpPr/>
          <p:nvPr/>
        </p:nvSpPr>
        <p:spPr>
          <a:xfrm>
            <a:off x="548640" y="4480560"/>
            <a:ext cx="2103120" cy="822960"/>
          </a:xfrm>
          <a:prstGeom prst="roundRect">
            <a:avLst>
              <a:gd name="adj" fmla="val 8889"/>
            </a:avLst>
          </a:prstGeom>
          <a:solidFill>
            <a:srgbClr val="FFFFFF"/>
          </a:solidFill>
          <a:ln w="12700">
            <a:solidFill>
              <a:srgbClr val="C9D4CD"/>
            </a:solidFill>
            <a:prstDash val="solid"/>
          </a:ln>
        </p:spPr>
      </p:sp>
      <p:sp>
        <p:nvSpPr>
          <p:cNvPr id="10" name="GHCR text"/>
          <p:cNvSpPr txBox="1"/>
          <p:nvPr/>
        </p:nvSpPr>
        <p:spPr>
          <a:xfrm>
            <a:off x="621792" y="4480560"/>
            <a:ext cx="1956816" cy="822960"/>
          </a:xfrm>
          <a:prstGeom prst="rect">
            <a:avLst/>
          </a:prstGeom>
          <a:noFill/>
          <a:ln/>
        </p:spPr>
        <p:txBody>
          <a:bodyPr wrap="square" lIns="0" tIns="0" rIns="0" bIns="0" rtlCol="0" anchor="ctr"/>
          <a:lstStyle/>
          <a:p>
            <a:pPr algn="ctr" indent="0" marL="0">
              <a:buNone/>
            </a:pPr>
            <a:r>
              <a:rPr lang="en-US" sz="1300" b="1" dirty="0">
                <a:solidFill>
                  <a:srgbClr val="1F2A24"/>
                </a:solidFill>
              </a:rPr>
              <a:t>GHCR</a:t>
            </a:r>
            <a:endParaRPr lang="en-US" sz="1300" dirty="0"/>
          </a:p>
          <a:p>
            <a:pPr algn="ctr" indent="0" marL="0">
              <a:buNone/>
            </a:pPr>
            <a:r>
              <a:rPr lang="en-US" sz="1050" dirty="0">
                <a:solidFill>
                  <a:srgbClr val="1F2A24"/>
                </a:solidFill>
              </a:rPr>
              <a:t>images tagged :commit-sha</a:t>
            </a:r>
            <a:endParaRPr lang="en-US" sz="1300" dirty="0"/>
          </a:p>
        </p:txBody>
      </p:sp>
      <p:sp>
        <p:nvSpPr>
          <p:cNvPr id="11" name="Cluster"/>
          <p:cNvSpPr/>
          <p:nvPr/>
        </p:nvSpPr>
        <p:spPr>
          <a:xfrm>
            <a:off x="3246120" y="1325880"/>
            <a:ext cx="5532120" cy="4709160"/>
          </a:xfrm>
          <a:prstGeom prst="roundRect">
            <a:avLst>
              <a:gd name="adj" fmla="val 2330"/>
            </a:avLst>
          </a:prstGeom>
          <a:solidFill>
            <a:srgbClr val="EEF4F0"/>
          </a:solidFill>
          <a:ln w="12700">
            <a:solidFill>
              <a:srgbClr val="C9D4CD"/>
            </a:solidFill>
            <a:prstDash val="solid"/>
          </a:ln>
        </p:spPr>
      </p:sp>
      <p:sp>
        <p:nvSpPr>
          <p:cNvPr id="12" name="Cluster label"/>
          <p:cNvSpPr txBox="1"/>
          <p:nvPr/>
        </p:nvSpPr>
        <p:spPr>
          <a:xfrm>
            <a:off x="3429000" y="1389888"/>
            <a:ext cx="5212080" cy="320040"/>
          </a:xfrm>
          <a:prstGeom prst="rect">
            <a:avLst/>
          </a:prstGeom>
          <a:noFill/>
          <a:ln/>
        </p:spPr>
        <p:txBody>
          <a:bodyPr wrap="square" lIns="0" tIns="0" rIns="0" bIns="0" rtlCol="0" anchor="ctr"/>
          <a:lstStyle/>
          <a:p>
            <a:pPr indent="0" marL="0">
              <a:buNone/>
            </a:pPr>
            <a:r>
              <a:rPr lang="en-US" sz="1200" b="1" dirty="0">
                <a:solidFill>
                  <a:schemeClr val="accent1"/>
                </a:solidFill>
              </a:rPr>
              <a:t>Kubernetes cluster  (kind locally · EKS on AWS)</a:t>
            </a:r>
            <a:endParaRPr lang="en-US" sz="1200" dirty="0"/>
          </a:p>
        </p:txBody>
      </p:sp>
      <p:sp>
        <p:nvSpPr>
          <p:cNvPr id="13" name="Ingress"/>
          <p:cNvSpPr/>
          <p:nvPr/>
        </p:nvSpPr>
        <p:spPr>
          <a:xfrm>
            <a:off x="3520440" y="1783080"/>
            <a:ext cx="4983480" cy="640080"/>
          </a:xfrm>
          <a:prstGeom prst="roundRect">
            <a:avLst>
              <a:gd name="adj" fmla="val 11429"/>
            </a:avLst>
          </a:prstGeom>
          <a:solidFill>
            <a:srgbClr val="15402F"/>
          </a:solidFill>
          <a:ln w="12700">
            <a:solidFill>
              <a:srgbClr val="15402F"/>
            </a:solidFill>
            <a:prstDash val="solid"/>
          </a:ln>
        </p:spPr>
      </p:sp>
      <p:sp>
        <p:nvSpPr>
          <p:cNvPr id="14" name="Ingress text"/>
          <p:cNvSpPr txBox="1"/>
          <p:nvPr/>
        </p:nvSpPr>
        <p:spPr>
          <a:xfrm>
            <a:off x="3593592" y="1783080"/>
            <a:ext cx="4837176" cy="640080"/>
          </a:xfrm>
          <a:prstGeom prst="rect">
            <a:avLst/>
          </a:prstGeom>
          <a:noFill/>
          <a:ln/>
        </p:spPr>
        <p:txBody>
          <a:bodyPr wrap="square" lIns="0" tIns="0" rIns="0" bIns="0" rtlCol="0" anchor="ctr"/>
          <a:lstStyle/>
          <a:p>
            <a:pPr algn="ctr" indent="0" marL="0">
              <a:buNone/>
            </a:pPr>
            <a:r>
              <a:rPr lang="en-US" sz="1300" b="1" dirty="0">
                <a:solidFill>
                  <a:srgbClr val="FFFFFF"/>
                </a:solidFill>
              </a:rPr>
              <a:t>Ingress (Traefik)</a:t>
            </a:r>
            <a:endParaRPr lang="en-US" sz="1300" dirty="0"/>
          </a:p>
        </p:txBody>
      </p:sp>
      <p:sp>
        <p:nvSpPr>
          <p:cNvPr id="15" name="Arrow ingress to frontend"/>
          <p:cNvSpPr/>
          <p:nvPr/>
        </p:nvSpPr>
        <p:spPr>
          <a:xfrm>
            <a:off x="4297680" y="2423160"/>
            <a:ext cx="0" cy="502920"/>
          </a:xfrm>
          <a:prstGeom prst="line">
            <a:avLst/>
          </a:prstGeom>
          <a:noFill/>
          <a:ln w="19050">
            <a:solidFill>
              <a:srgbClr val="6B766F"/>
            </a:solidFill>
            <a:prstDash val="solid"/>
            <a:tailEnd type="triangle"/>
          </a:ln>
        </p:spPr>
      </p:sp>
      <p:sp>
        <p:nvSpPr>
          <p:cNvPr id="16" name="Path root"/>
          <p:cNvSpPr txBox="1"/>
          <p:nvPr/>
        </p:nvSpPr>
        <p:spPr>
          <a:xfrm>
            <a:off x="4389120" y="2514600"/>
            <a:ext cx="365760" cy="256032"/>
          </a:xfrm>
          <a:prstGeom prst="rect">
            <a:avLst/>
          </a:prstGeom>
          <a:noFill/>
          <a:ln/>
        </p:spPr>
        <p:txBody>
          <a:bodyPr wrap="square" lIns="0" tIns="0" rIns="0" bIns="0" rtlCol="0" anchor="ctr"/>
          <a:lstStyle/>
          <a:p>
            <a:pPr indent="0" marL="0">
              <a:buNone/>
            </a:pPr>
            <a:r>
              <a:rPr lang="en-US" sz="1050" i="1" dirty="0">
                <a:solidFill>
                  <a:schemeClr val="accent5"/>
                </a:solidFill>
              </a:rPr>
              <a:t>/</a:t>
            </a:r>
            <a:endParaRPr lang="en-US" sz="1050" dirty="0"/>
          </a:p>
        </p:txBody>
      </p:sp>
      <p:sp>
        <p:nvSpPr>
          <p:cNvPr id="17" name="Arrow ingress to backend"/>
          <p:cNvSpPr/>
          <p:nvPr/>
        </p:nvSpPr>
        <p:spPr>
          <a:xfrm>
            <a:off x="6080760" y="2423160"/>
            <a:ext cx="0" cy="502920"/>
          </a:xfrm>
          <a:prstGeom prst="line">
            <a:avLst/>
          </a:prstGeom>
          <a:noFill/>
          <a:ln w="19050">
            <a:solidFill>
              <a:srgbClr val="6B766F"/>
            </a:solidFill>
            <a:prstDash val="solid"/>
            <a:tailEnd type="triangle"/>
          </a:ln>
        </p:spPr>
      </p:sp>
      <p:sp>
        <p:nvSpPr>
          <p:cNvPr id="18" name="Path api"/>
          <p:cNvSpPr txBox="1"/>
          <p:nvPr/>
        </p:nvSpPr>
        <p:spPr>
          <a:xfrm>
            <a:off x="6172200" y="2514600"/>
            <a:ext cx="548640" cy="256032"/>
          </a:xfrm>
          <a:prstGeom prst="rect">
            <a:avLst/>
          </a:prstGeom>
          <a:noFill/>
          <a:ln/>
        </p:spPr>
        <p:txBody>
          <a:bodyPr wrap="square" lIns="0" tIns="0" rIns="0" bIns="0" rtlCol="0" anchor="ctr"/>
          <a:lstStyle/>
          <a:p>
            <a:pPr indent="0" marL="0">
              <a:buNone/>
            </a:pPr>
            <a:r>
              <a:rPr lang="en-US" sz="1050" i="1" dirty="0">
                <a:solidFill>
                  <a:schemeClr val="accent5"/>
                </a:solidFill>
              </a:rPr>
              <a:t>/api</a:t>
            </a:r>
            <a:endParaRPr lang="en-US" sz="1050" dirty="0"/>
          </a:p>
        </p:txBody>
      </p:sp>
      <p:sp>
        <p:nvSpPr>
          <p:cNvPr id="19" name="Frontend"/>
          <p:cNvSpPr/>
          <p:nvPr/>
        </p:nvSpPr>
        <p:spPr>
          <a:xfrm>
            <a:off x="3520440" y="2926080"/>
            <a:ext cx="1600200" cy="914400"/>
          </a:xfrm>
          <a:prstGeom prst="roundRect">
            <a:avLst>
              <a:gd name="adj" fmla="val 8000"/>
            </a:avLst>
          </a:prstGeom>
          <a:solidFill>
            <a:srgbClr val="FFFFFF"/>
          </a:solidFill>
          <a:ln w="12700">
            <a:solidFill>
              <a:srgbClr val="C9D4CD"/>
            </a:solidFill>
            <a:prstDash val="solid"/>
          </a:ln>
        </p:spPr>
      </p:sp>
      <p:sp>
        <p:nvSpPr>
          <p:cNvPr id="20" name="Frontend text"/>
          <p:cNvSpPr txBox="1"/>
          <p:nvPr/>
        </p:nvSpPr>
        <p:spPr>
          <a:xfrm>
            <a:off x="3593592" y="2926080"/>
            <a:ext cx="1453896" cy="914400"/>
          </a:xfrm>
          <a:prstGeom prst="rect">
            <a:avLst/>
          </a:prstGeom>
          <a:noFill/>
          <a:ln/>
        </p:spPr>
        <p:txBody>
          <a:bodyPr wrap="square" lIns="0" tIns="0" rIns="0" bIns="0" rtlCol="0" anchor="ctr"/>
          <a:lstStyle/>
          <a:p>
            <a:pPr algn="ctr" indent="0" marL="0">
              <a:buNone/>
            </a:pPr>
            <a:r>
              <a:rPr lang="en-US" sz="1300" b="1" dirty="0">
                <a:solidFill>
                  <a:srgbClr val="1F2A24"/>
                </a:solidFill>
              </a:rPr>
              <a:t>Frontend ×2</a:t>
            </a:r>
            <a:endParaRPr lang="en-US" sz="1300" dirty="0"/>
          </a:p>
          <a:p>
            <a:pPr algn="ctr" indent="0" marL="0">
              <a:buNone/>
            </a:pPr>
            <a:r>
              <a:rPr lang="en-US" sz="1050" dirty="0">
                <a:solidFill>
                  <a:srgbClr val="1F2A24"/>
                </a:solidFill>
              </a:rPr>
              <a:t>React + nginx</a:t>
            </a:r>
            <a:endParaRPr lang="en-US" sz="1300" dirty="0"/>
          </a:p>
        </p:txBody>
      </p:sp>
      <p:sp>
        <p:nvSpPr>
          <p:cNvPr id="21" name="Backend"/>
          <p:cNvSpPr/>
          <p:nvPr/>
        </p:nvSpPr>
        <p:spPr>
          <a:xfrm>
            <a:off x="5303520" y="2926080"/>
            <a:ext cx="1600200" cy="914400"/>
          </a:xfrm>
          <a:prstGeom prst="roundRect">
            <a:avLst>
              <a:gd name="adj" fmla="val 8000"/>
            </a:avLst>
          </a:prstGeom>
          <a:solidFill>
            <a:srgbClr val="FFFFFF"/>
          </a:solidFill>
          <a:ln w="12700">
            <a:solidFill>
              <a:srgbClr val="C9D4CD"/>
            </a:solidFill>
            <a:prstDash val="solid"/>
          </a:ln>
        </p:spPr>
      </p:sp>
      <p:sp>
        <p:nvSpPr>
          <p:cNvPr id="22" name="Backend text"/>
          <p:cNvSpPr txBox="1"/>
          <p:nvPr/>
        </p:nvSpPr>
        <p:spPr>
          <a:xfrm>
            <a:off x="5376672" y="2926080"/>
            <a:ext cx="1453896" cy="914400"/>
          </a:xfrm>
          <a:prstGeom prst="rect">
            <a:avLst/>
          </a:prstGeom>
          <a:noFill/>
          <a:ln/>
        </p:spPr>
        <p:txBody>
          <a:bodyPr wrap="square" lIns="0" tIns="0" rIns="0" bIns="0" rtlCol="0" anchor="ctr"/>
          <a:lstStyle/>
          <a:p>
            <a:pPr algn="ctr" indent="0" marL="0">
              <a:buNone/>
            </a:pPr>
            <a:r>
              <a:rPr lang="en-US" sz="1300" b="1" dirty="0">
                <a:solidFill>
                  <a:srgbClr val="1F2A24"/>
                </a:solidFill>
              </a:rPr>
              <a:t>Backend ×2</a:t>
            </a:r>
            <a:endParaRPr lang="en-US" sz="1300" dirty="0"/>
          </a:p>
          <a:p>
            <a:pPr algn="ctr" indent="0" marL="0">
              <a:buNone/>
            </a:pPr>
            <a:r>
              <a:rPr lang="en-US" sz="1050" dirty="0">
                <a:solidFill>
                  <a:srgbClr val="1F2A24"/>
                </a:solidFill>
              </a:rPr>
              <a:t>FastAPI</a:t>
            </a:r>
            <a:endParaRPr lang="en-US" sz="1300" dirty="0"/>
          </a:p>
        </p:txBody>
      </p:sp>
      <p:sp>
        <p:nvSpPr>
          <p:cNvPr id="23" name="Arrow backend to db"/>
          <p:cNvSpPr/>
          <p:nvPr/>
        </p:nvSpPr>
        <p:spPr>
          <a:xfrm>
            <a:off x="6903720" y="3383280"/>
            <a:ext cx="182880" cy="0"/>
          </a:xfrm>
          <a:prstGeom prst="line">
            <a:avLst/>
          </a:prstGeom>
          <a:noFill/>
          <a:ln w="19050">
            <a:solidFill>
              <a:srgbClr val="6B766F"/>
            </a:solidFill>
            <a:prstDash val="solid"/>
            <a:tailEnd type="triangle"/>
          </a:ln>
        </p:spPr>
      </p:sp>
      <p:sp>
        <p:nvSpPr>
          <p:cNvPr id="24" name="Postgres"/>
          <p:cNvSpPr/>
          <p:nvPr/>
        </p:nvSpPr>
        <p:spPr>
          <a:xfrm>
            <a:off x="7086600" y="2926080"/>
            <a:ext cx="1463040" cy="914400"/>
          </a:xfrm>
          <a:prstGeom prst="roundRect">
            <a:avLst>
              <a:gd name="adj" fmla="val 8000"/>
            </a:avLst>
          </a:prstGeom>
          <a:solidFill>
            <a:srgbClr val="FFFFFF"/>
          </a:solidFill>
          <a:ln w="12700">
            <a:solidFill>
              <a:srgbClr val="C9D4CD"/>
            </a:solidFill>
            <a:prstDash val="solid"/>
          </a:ln>
        </p:spPr>
      </p:sp>
      <p:sp>
        <p:nvSpPr>
          <p:cNvPr id="25" name="Postgres text"/>
          <p:cNvSpPr txBox="1"/>
          <p:nvPr/>
        </p:nvSpPr>
        <p:spPr>
          <a:xfrm>
            <a:off x="7159752" y="2926080"/>
            <a:ext cx="1316736" cy="914400"/>
          </a:xfrm>
          <a:prstGeom prst="rect">
            <a:avLst/>
          </a:prstGeom>
          <a:noFill/>
          <a:ln/>
        </p:spPr>
        <p:txBody>
          <a:bodyPr wrap="square" lIns="0" tIns="0" rIns="0" bIns="0" rtlCol="0" anchor="ctr"/>
          <a:lstStyle/>
          <a:p>
            <a:pPr algn="ctr" indent="0" marL="0">
              <a:buNone/>
            </a:pPr>
            <a:r>
              <a:rPr lang="en-US" sz="1300" b="1" dirty="0">
                <a:solidFill>
                  <a:srgbClr val="1F2A24"/>
                </a:solidFill>
              </a:rPr>
              <a:t>PostgreSQL</a:t>
            </a:r>
            <a:endParaRPr lang="en-US" sz="1300" dirty="0"/>
          </a:p>
          <a:p>
            <a:pPr algn="ctr" indent="0" marL="0">
              <a:buNone/>
            </a:pPr>
            <a:r>
              <a:rPr lang="en-US" sz="1050" dirty="0">
                <a:solidFill>
                  <a:srgbClr val="1F2A24"/>
                </a:solidFill>
              </a:rPr>
              <a:t>StatefulSet + PVC</a:t>
            </a:r>
            <a:endParaRPr lang="en-US" sz="1300" dirty="0"/>
          </a:p>
        </p:txBody>
      </p:sp>
      <p:sp>
        <p:nvSpPr>
          <p:cNvPr id="26" name="Arrow prometheus to backend"/>
          <p:cNvSpPr/>
          <p:nvPr/>
        </p:nvSpPr>
        <p:spPr>
          <a:xfrm>
            <a:off x="6080760" y="4434840"/>
            <a:ext cx="0" cy="-594360"/>
          </a:xfrm>
          <a:prstGeom prst="line">
            <a:avLst/>
          </a:prstGeom>
          <a:noFill/>
          <a:ln w="19050">
            <a:solidFill>
              <a:srgbClr val="6B766F"/>
            </a:solidFill>
            <a:prstDash val="solid"/>
            <a:tailEnd type="triangle"/>
          </a:ln>
        </p:spPr>
      </p:sp>
      <p:sp>
        <p:nvSpPr>
          <p:cNvPr id="27" name="Scrape label"/>
          <p:cNvSpPr txBox="1"/>
          <p:nvPr/>
        </p:nvSpPr>
        <p:spPr>
          <a:xfrm>
            <a:off x="6172200" y="3977640"/>
            <a:ext cx="1371600" cy="256032"/>
          </a:xfrm>
          <a:prstGeom prst="rect">
            <a:avLst/>
          </a:prstGeom>
          <a:noFill/>
          <a:ln/>
        </p:spPr>
        <p:txBody>
          <a:bodyPr wrap="square" lIns="0" tIns="0" rIns="0" bIns="0" rtlCol="0" anchor="ctr"/>
          <a:lstStyle/>
          <a:p>
            <a:pPr indent="0" marL="0">
              <a:buNone/>
            </a:pPr>
            <a:r>
              <a:rPr lang="en-US" sz="1050" i="1" dirty="0">
                <a:solidFill>
                  <a:schemeClr val="accent5"/>
                </a:solidFill>
              </a:rPr>
              <a:t>scrape /metrics</a:t>
            </a:r>
            <a:endParaRPr lang="en-US" sz="1050" dirty="0"/>
          </a:p>
        </p:txBody>
      </p:sp>
      <p:sp>
        <p:nvSpPr>
          <p:cNvPr id="28" name="Monitoring"/>
          <p:cNvSpPr/>
          <p:nvPr/>
        </p:nvSpPr>
        <p:spPr>
          <a:xfrm>
            <a:off x="5303520" y="4434840"/>
            <a:ext cx="1600200" cy="914400"/>
          </a:xfrm>
          <a:prstGeom prst="roundRect">
            <a:avLst>
              <a:gd name="adj" fmla="val 8000"/>
            </a:avLst>
          </a:prstGeom>
          <a:solidFill>
            <a:srgbClr val="FFFFFF"/>
          </a:solidFill>
          <a:ln w="12700">
            <a:solidFill>
              <a:srgbClr val="C9D4CD"/>
            </a:solidFill>
            <a:prstDash val="solid"/>
          </a:ln>
        </p:spPr>
      </p:sp>
      <p:sp>
        <p:nvSpPr>
          <p:cNvPr id="29" name="Monitoring text"/>
          <p:cNvSpPr txBox="1"/>
          <p:nvPr/>
        </p:nvSpPr>
        <p:spPr>
          <a:xfrm>
            <a:off x="5376672" y="4434840"/>
            <a:ext cx="1453896" cy="914400"/>
          </a:xfrm>
          <a:prstGeom prst="rect">
            <a:avLst/>
          </a:prstGeom>
          <a:noFill/>
          <a:ln/>
        </p:spPr>
        <p:txBody>
          <a:bodyPr wrap="square" lIns="0" tIns="0" rIns="0" bIns="0" rtlCol="0" anchor="ctr"/>
          <a:lstStyle/>
          <a:p>
            <a:pPr algn="ctr" indent="0" marL="0">
              <a:buNone/>
            </a:pPr>
            <a:r>
              <a:rPr lang="en-US" sz="1300" b="1" dirty="0">
                <a:solidFill>
                  <a:srgbClr val="1F2A24"/>
                </a:solidFill>
              </a:rPr>
              <a:t>Prometheus</a:t>
            </a:r>
            <a:endParaRPr lang="en-US" sz="1300" dirty="0"/>
          </a:p>
          <a:p>
            <a:pPr algn="ctr" indent="0" marL="0">
              <a:buNone/>
            </a:pPr>
            <a:r>
              <a:rPr lang="en-US" sz="1050" dirty="0">
                <a:solidFill>
                  <a:srgbClr val="1F2A24"/>
                </a:solidFill>
              </a:rPr>
              <a:t>+ Grafana</a:t>
            </a:r>
            <a:endParaRPr lang="en-US" sz="1300" dirty="0"/>
          </a:p>
        </p:txBody>
      </p:sp>
      <p:sp>
        <p:nvSpPr>
          <p:cNvPr id="30" name="Arrow CI to cluster"/>
          <p:cNvSpPr/>
          <p:nvPr/>
        </p:nvSpPr>
        <p:spPr>
          <a:xfrm>
            <a:off x="2651760" y="3383280"/>
            <a:ext cx="594360" cy="0"/>
          </a:xfrm>
          <a:prstGeom prst="line">
            <a:avLst/>
          </a:prstGeom>
          <a:noFill/>
          <a:ln w="19050">
            <a:solidFill>
              <a:srgbClr val="6B766F"/>
            </a:solidFill>
            <a:prstDash val="solid"/>
            <a:tailEnd type="triangle"/>
          </a:ln>
        </p:spPr>
      </p:sp>
      <p:sp>
        <p:nvSpPr>
          <p:cNvPr id="31" name="Helm label"/>
          <p:cNvSpPr txBox="1"/>
          <p:nvPr/>
        </p:nvSpPr>
        <p:spPr>
          <a:xfrm>
            <a:off x="2651760" y="3063240"/>
            <a:ext cx="640080" cy="256032"/>
          </a:xfrm>
          <a:prstGeom prst="rect">
            <a:avLst/>
          </a:prstGeom>
          <a:noFill/>
          <a:ln/>
        </p:spPr>
        <p:txBody>
          <a:bodyPr wrap="square" lIns="0" tIns="0" rIns="0" bIns="0" rtlCol="0" anchor="ctr"/>
          <a:lstStyle/>
          <a:p>
            <a:pPr indent="0" marL="0">
              <a:buNone/>
            </a:pPr>
            <a:r>
              <a:rPr lang="en-US" sz="1050" i="1" dirty="0">
                <a:solidFill>
                  <a:schemeClr val="accent5"/>
                </a:solidFill>
              </a:rPr>
              <a:t>helm upgrade</a:t>
            </a:r>
            <a:endParaRPr lang="en-US" sz="1050" dirty="0"/>
          </a:p>
        </p:txBody>
      </p:sp>
      <p:sp>
        <p:nvSpPr>
          <p:cNvPr id="32" name="Arrow GHCR to cluster"/>
          <p:cNvSpPr/>
          <p:nvPr/>
        </p:nvSpPr>
        <p:spPr>
          <a:xfrm>
            <a:off x="2651760" y="4892040"/>
            <a:ext cx="594360" cy="0"/>
          </a:xfrm>
          <a:prstGeom prst="line">
            <a:avLst/>
          </a:prstGeom>
          <a:noFill/>
          <a:ln w="19050">
            <a:solidFill>
              <a:srgbClr val="6B766F"/>
            </a:solidFill>
            <a:prstDash val="solid"/>
            <a:tailEnd type="triangle"/>
          </a:ln>
        </p:spPr>
      </p:sp>
      <p:sp>
        <p:nvSpPr>
          <p:cNvPr id="33" name="Pull label"/>
          <p:cNvSpPr txBox="1"/>
          <p:nvPr/>
        </p:nvSpPr>
        <p:spPr>
          <a:xfrm>
            <a:off x="2743200" y="4572000"/>
            <a:ext cx="457200" cy="256032"/>
          </a:xfrm>
          <a:prstGeom prst="rect">
            <a:avLst/>
          </a:prstGeom>
          <a:noFill/>
          <a:ln/>
        </p:spPr>
        <p:txBody>
          <a:bodyPr wrap="square" lIns="0" tIns="0" rIns="0" bIns="0" rtlCol="0" anchor="ctr"/>
          <a:lstStyle/>
          <a:p>
            <a:pPr indent="0" marL="0">
              <a:buNone/>
            </a:pPr>
            <a:r>
              <a:rPr lang="en-US" sz="1050" i="1" dirty="0">
                <a:solidFill>
                  <a:schemeClr val="accent5"/>
                </a:solidFill>
              </a:rPr>
              <a:t>pull</a:t>
            </a:r>
            <a:endParaRPr lang="en-US" sz="1050" dirty="0"/>
          </a:p>
        </p:txBody>
      </p:sp>
      <p:sp>
        <p:nvSpPr>
          <p:cNvPr id="34" name="Users"/>
          <p:cNvSpPr/>
          <p:nvPr/>
        </p:nvSpPr>
        <p:spPr>
          <a:xfrm>
            <a:off x="9235440" y="1783080"/>
            <a:ext cx="2377440" cy="640080"/>
          </a:xfrm>
          <a:prstGeom prst="roundRect">
            <a:avLst>
              <a:gd name="adj" fmla="val 11429"/>
            </a:avLst>
          </a:prstGeom>
          <a:solidFill>
            <a:srgbClr val="FFFFFF"/>
          </a:solidFill>
          <a:ln w="12700">
            <a:solidFill>
              <a:srgbClr val="C9D4CD"/>
            </a:solidFill>
            <a:prstDash val="solid"/>
          </a:ln>
        </p:spPr>
      </p:sp>
      <p:sp>
        <p:nvSpPr>
          <p:cNvPr id="35" name="Users text"/>
          <p:cNvSpPr txBox="1"/>
          <p:nvPr/>
        </p:nvSpPr>
        <p:spPr>
          <a:xfrm>
            <a:off x="9308592" y="1783080"/>
            <a:ext cx="2231136" cy="640080"/>
          </a:xfrm>
          <a:prstGeom prst="rect">
            <a:avLst/>
          </a:prstGeom>
          <a:noFill/>
          <a:ln/>
        </p:spPr>
        <p:txBody>
          <a:bodyPr wrap="square" lIns="0" tIns="0" rIns="0" bIns="0" rtlCol="0" anchor="ctr"/>
          <a:lstStyle/>
          <a:p>
            <a:pPr algn="ctr" indent="0" marL="0">
              <a:buNone/>
            </a:pPr>
            <a:r>
              <a:rPr lang="en-US" sz="1300" b="1" dirty="0">
                <a:solidFill>
                  <a:srgbClr val="1F2A24"/>
                </a:solidFill>
              </a:rPr>
              <a:t>Users (browser)</a:t>
            </a:r>
            <a:endParaRPr lang="en-US" sz="1300" dirty="0"/>
          </a:p>
        </p:txBody>
      </p:sp>
      <p:sp>
        <p:nvSpPr>
          <p:cNvPr id="36" name="Arrow users to ingress"/>
          <p:cNvSpPr/>
          <p:nvPr/>
        </p:nvSpPr>
        <p:spPr>
          <a:xfrm>
            <a:off x="8503920" y="2103120"/>
            <a:ext cx="731520" cy="0"/>
          </a:xfrm>
          <a:prstGeom prst="line">
            <a:avLst/>
          </a:prstGeom>
          <a:noFill/>
          <a:ln w="19050">
            <a:solidFill>
              <a:srgbClr val="6B766F"/>
            </a:solidFill>
            <a:prstDash val="solid"/>
            <a:headEnd type="triangle"/>
          </a:ln>
        </p:spPr>
      </p:sp>
      <p:sp>
        <p:nvSpPr>
          <p:cNvPr id="37" name="Terraform"/>
          <p:cNvSpPr/>
          <p:nvPr/>
        </p:nvSpPr>
        <p:spPr>
          <a:xfrm>
            <a:off x="9235440" y="2926080"/>
            <a:ext cx="2377440" cy="822960"/>
          </a:xfrm>
          <a:prstGeom prst="roundRect">
            <a:avLst>
              <a:gd name="adj" fmla="val 8889"/>
            </a:avLst>
          </a:prstGeom>
          <a:solidFill>
            <a:srgbClr val="2F7D5B"/>
          </a:solidFill>
          <a:ln w="12700">
            <a:solidFill>
              <a:srgbClr val="2F7D5B"/>
            </a:solidFill>
            <a:prstDash val="solid"/>
          </a:ln>
        </p:spPr>
      </p:sp>
      <p:sp>
        <p:nvSpPr>
          <p:cNvPr id="38" name="Terraform text"/>
          <p:cNvSpPr txBox="1"/>
          <p:nvPr/>
        </p:nvSpPr>
        <p:spPr>
          <a:xfrm>
            <a:off x="9308592" y="2926080"/>
            <a:ext cx="2231136" cy="822960"/>
          </a:xfrm>
          <a:prstGeom prst="rect">
            <a:avLst/>
          </a:prstGeom>
          <a:noFill/>
          <a:ln/>
        </p:spPr>
        <p:txBody>
          <a:bodyPr wrap="square" lIns="0" tIns="0" rIns="0" bIns="0" rtlCol="0" anchor="ctr"/>
          <a:lstStyle/>
          <a:p>
            <a:pPr algn="ctr" indent="0" marL="0">
              <a:buNone/>
            </a:pPr>
            <a:r>
              <a:rPr lang="en-US" sz="1300" b="1" dirty="0">
                <a:solidFill>
                  <a:srgbClr val="FFFFFF"/>
                </a:solidFill>
              </a:rPr>
              <a:t>Terraform</a:t>
            </a:r>
            <a:endParaRPr lang="en-US" sz="1300" dirty="0"/>
          </a:p>
          <a:p>
            <a:pPr algn="ctr" indent="0" marL="0">
              <a:buNone/>
            </a:pPr>
            <a:r>
              <a:rPr lang="en-US" sz="1050" dirty="0">
                <a:solidFill>
                  <a:srgbClr val="FFFFFF"/>
                </a:solidFill>
              </a:rPr>
              <a:t>infrastructure as code</a:t>
            </a:r>
            <a:endParaRPr lang="en-US" sz="1300" dirty="0"/>
          </a:p>
        </p:txBody>
      </p:sp>
      <p:sp>
        <p:nvSpPr>
          <p:cNvPr id="39" name="Arrow terraform to aws"/>
          <p:cNvSpPr/>
          <p:nvPr/>
        </p:nvSpPr>
        <p:spPr>
          <a:xfrm>
            <a:off x="10424160" y="3749040"/>
            <a:ext cx="0" cy="411480"/>
          </a:xfrm>
          <a:prstGeom prst="line">
            <a:avLst/>
          </a:prstGeom>
          <a:noFill/>
          <a:ln w="19050">
            <a:solidFill>
              <a:srgbClr val="6B766F"/>
            </a:solidFill>
            <a:prstDash val="solid"/>
            <a:tailEnd type="triangle"/>
          </a:ln>
        </p:spPr>
      </p:sp>
      <p:sp>
        <p:nvSpPr>
          <p:cNvPr id="40" name="AWS"/>
          <p:cNvSpPr/>
          <p:nvPr/>
        </p:nvSpPr>
        <p:spPr>
          <a:xfrm>
            <a:off x="9235440" y="4160520"/>
            <a:ext cx="2377440" cy="1463040"/>
          </a:xfrm>
          <a:prstGeom prst="roundRect">
            <a:avLst>
              <a:gd name="adj" fmla="val 5000"/>
            </a:avLst>
          </a:prstGeom>
          <a:solidFill>
            <a:srgbClr val="FFFFFF"/>
          </a:solidFill>
          <a:ln w="12700">
            <a:solidFill>
              <a:srgbClr val="C9D4CD"/>
            </a:solidFill>
            <a:prstDash val="solid"/>
          </a:ln>
        </p:spPr>
      </p:sp>
      <p:sp>
        <p:nvSpPr>
          <p:cNvPr id="41" name="AWS text"/>
          <p:cNvSpPr txBox="1"/>
          <p:nvPr/>
        </p:nvSpPr>
        <p:spPr>
          <a:xfrm>
            <a:off x="9308592" y="4160520"/>
            <a:ext cx="2231136" cy="1463040"/>
          </a:xfrm>
          <a:prstGeom prst="rect">
            <a:avLst/>
          </a:prstGeom>
          <a:noFill/>
          <a:ln/>
        </p:spPr>
        <p:txBody>
          <a:bodyPr wrap="square" lIns="0" tIns="0" rIns="0" bIns="0" rtlCol="0" anchor="ctr"/>
          <a:lstStyle/>
          <a:p>
            <a:pPr algn="ctr" indent="0" marL="0">
              <a:buNone/>
            </a:pPr>
            <a:r>
              <a:rPr lang="en-US" sz="1300" b="1" dirty="0">
                <a:solidFill>
                  <a:srgbClr val="1F2A24"/>
                </a:solidFill>
              </a:rPr>
              <a:t>AWS</a:t>
            </a:r>
            <a:endParaRPr lang="en-US" sz="1300" dirty="0"/>
          </a:p>
          <a:p>
            <a:pPr algn="ctr" indent="0" marL="0">
              <a:buNone/>
            </a:pPr>
            <a:r>
              <a:rPr lang="en-US" sz="1050" dirty="0">
                <a:solidFill>
                  <a:srgbClr val="1F2A24"/>
                </a:solidFill>
              </a:rPr>
              <a:t>VPC · 2 public + 2 private subnets · NAT · IAM · EKS + node group</a:t>
            </a:r>
            <a:endParaRPr lang="en-US" sz="1300" dirty="0"/>
          </a:p>
        </p:txBody>
      </p:sp>
      <p:sp>
        <p:nvSpPr>
          <p:cNvPr id="42" name="Mock label"/>
          <p:cNvSpPr txBox="1"/>
          <p:nvPr/>
        </p:nvSpPr>
        <p:spPr>
          <a:xfrm>
            <a:off x="9235440" y="5669280"/>
            <a:ext cx="2377440" cy="256032"/>
          </a:xfrm>
          <a:prstGeom prst="rect">
            <a:avLst/>
          </a:prstGeom>
          <a:noFill/>
          <a:ln/>
        </p:spPr>
        <p:txBody>
          <a:bodyPr wrap="square" lIns="0" tIns="0" rIns="0" bIns="0" rtlCol="0" anchor="ctr"/>
          <a:lstStyle/>
          <a:p>
            <a:pPr indent="0" marL="0">
              <a:buNone/>
            </a:pPr>
            <a:r>
              <a:rPr lang="en-US" sz="1050" i="1" dirty="0">
                <a:solidFill>
                  <a:schemeClr val="accent5"/>
                </a:solidFill>
              </a:rPr>
              <a:t>run against mock AWS (moto)</a:t>
            </a:r>
            <a:endParaRPr lang="en-US" sz="105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Tech stack, and why I chose it</a:t>
            </a:r>
            <a:endParaRPr lang="en-US" sz="3400" dirty="0"/>
          </a:p>
        </p:txBody>
      </p:sp>
      <p:graphicFrame>
        <p:nvGraphicFramePr>
          <p:cNvPr id="6" name="Stack table"/>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737360"/>
                <a:gridCol w="2377440"/>
                <a:gridCol w="2743200"/>
                <a:gridCol w="4206240"/>
              </a:tblGrid>
              <a:tr h="438912">
                <a:tc>
                  <a:txBody>
                    <a:bodyPr/>
                    <a:lstStyle/>
                    <a:p>
                      <a:pPr indent="0" marL="0">
                        <a:buNone/>
                      </a:pPr>
                      <a:r>
                        <a:rPr lang="en-US" sz="1300" b="1" dirty="0">
                          <a:solidFill>
                            <a:srgbClr val="FFFFFF"/>
                          </a:solidFill>
                        </a:rPr>
                        <a:t>Area</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15402F"/>
                    </a:solidFill>
                  </a:tcPr>
                </a:tc>
                <a:tc>
                  <a:txBody>
                    <a:bodyPr/>
                    <a:lstStyle/>
                    <a:p>
                      <a:pPr indent="0" marL="0">
                        <a:buNone/>
                      </a:pPr>
                      <a:r>
                        <a:rPr lang="en-US" sz="1300" b="1" dirty="0">
                          <a:solidFill>
                            <a:srgbClr val="FFFFFF"/>
                          </a:solidFill>
                        </a:rPr>
                        <a:t>Chosen</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15402F"/>
                    </a:solidFill>
                  </a:tcPr>
                </a:tc>
                <a:tc>
                  <a:txBody>
                    <a:bodyPr/>
                    <a:lstStyle/>
                    <a:p>
                      <a:pPr indent="0" marL="0">
                        <a:buNone/>
                      </a:pPr>
                      <a:r>
                        <a:rPr lang="en-US" sz="1300" b="1" dirty="0">
                          <a:solidFill>
                            <a:srgbClr val="FFFFFF"/>
                          </a:solidFill>
                        </a:rPr>
                        <a:t>Alternatives considered</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15402F"/>
                    </a:solidFill>
                  </a:tcPr>
                </a:tc>
                <a:tc>
                  <a:txBody>
                    <a:bodyPr/>
                    <a:lstStyle/>
                    <a:p>
                      <a:pPr indent="0" marL="0">
                        <a:buNone/>
                      </a:pPr>
                      <a:r>
                        <a:rPr lang="en-US" sz="1300" b="1" dirty="0">
                          <a:solidFill>
                            <a:srgbClr val="FFFFFF"/>
                          </a:solidFill>
                        </a:rPr>
                        <a:t>Why</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15402F"/>
                    </a:solidFill>
                  </a:tcPr>
                </a:tc>
              </a:tr>
              <a:tr h="438912">
                <a:tc>
                  <a:txBody>
                    <a:bodyPr/>
                    <a:lstStyle/>
                    <a:p>
                      <a:pPr indent="0" marL="0">
                        <a:buNone/>
                      </a:pPr>
                      <a:r>
                        <a:rPr lang="en-US" sz="1300" dirty="0">
                          <a:solidFill>
                            <a:srgbClr val="1F2A24"/>
                          </a:solidFill>
                        </a:rPr>
                        <a:t>Backend</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b="1" dirty="0">
                          <a:solidFill>
                            <a:srgbClr val="1F2A24"/>
                          </a:solidFill>
                        </a:rPr>
                        <a:t>FastAPI (Python)</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Flask, Django</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Typed models, async, free Swagger docs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r>
              <a:tr h="438912">
                <a:tc>
                  <a:txBody>
                    <a:bodyPr/>
                    <a:lstStyle/>
                    <a:p>
                      <a:pPr indent="0" marL="0">
                        <a:buNone/>
                      </a:pPr>
                      <a:r>
                        <a:rPr lang="en-US" sz="1300" dirty="0">
                          <a:solidFill>
                            <a:srgbClr val="1F2A24"/>
                          </a:solidFill>
                        </a:rPr>
                        <a:t>Frontend</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24"/>
                          </a:solidFill>
                        </a:rPr>
                        <a:t>React + Vite</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Plain HTML, Angular</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Small bundle, component UI, fast builds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A24"/>
                          </a:solidFill>
                        </a:rPr>
                        <a:t>Database</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b="1" dirty="0">
                          <a:solidFill>
                            <a:srgbClr val="1F2A24"/>
                          </a:solidFill>
                        </a:rPr>
                        <a:t>PostgreSQL + Alembic</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MySQL, MongoDB</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Relational data, versioned migrations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r>
              <a:tr h="438912">
                <a:tc>
                  <a:txBody>
                    <a:bodyPr/>
                    <a:lstStyle/>
                    <a:p>
                      <a:pPr indent="0" marL="0">
                        <a:buNone/>
                      </a:pPr>
                      <a:r>
                        <a:rPr lang="en-US" sz="1300" dirty="0">
                          <a:solidFill>
                            <a:srgbClr val="1F2A24"/>
                          </a:solidFill>
                        </a:rPr>
                        <a:t>CI/CD</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24"/>
                          </a:solidFill>
                        </a:rPr>
                        <a:t>GitHub Actions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Jenkins, GitLab CI</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Lives next to the code, no server to run</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A24"/>
                          </a:solidFill>
                        </a:rPr>
                        <a:t>Registry</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b="1" dirty="0">
                          <a:solidFill>
                            <a:srgbClr val="1F2A24"/>
                          </a:solidFill>
                        </a:rPr>
                        <a:t>GHCR</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Docker Hub</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Same login as the repo, linked packages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r>
              <a:tr h="438912">
                <a:tc>
                  <a:txBody>
                    <a:bodyPr/>
                    <a:lstStyle/>
                    <a:p>
                      <a:pPr indent="0" marL="0">
                        <a:buNone/>
                      </a:pPr>
                      <a:r>
                        <a:rPr lang="en-US" sz="1300" dirty="0">
                          <a:solidFill>
                            <a:srgbClr val="1F2A24"/>
                          </a:solidFill>
                        </a:rPr>
                        <a:t>Security</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24"/>
                          </a:solidFill>
                        </a:rPr>
                        <a:t>Trivy</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Snyk, Grype</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Free, fast, scans OS and Python packages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A24"/>
                          </a:solidFill>
                        </a:rPr>
                        <a:t>IaC</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b="1" dirty="0">
                          <a:solidFill>
                            <a:srgbClr val="1F2A24"/>
                          </a:solidFill>
                        </a:rPr>
                        <a:t>Terraform</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CloudFormation, Pulumi</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Declarative, plan before apply</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r>
              <a:tr h="438912">
                <a:tc>
                  <a:txBody>
                    <a:bodyPr/>
                    <a:lstStyle/>
                    <a:p>
                      <a:pPr indent="0" marL="0">
                        <a:buNone/>
                      </a:pPr>
                      <a:r>
                        <a:rPr lang="en-US" sz="1300" dirty="0">
                          <a:solidFill>
                            <a:srgbClr val="1F2A24"/>
                          </a:solidFill>
                        </a:rPr>
                        <a:t>Orchestration</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b="1" dirty="0">
                          <a:solidFill>
                            <a:srgbClr val="1F2A24"/>
                          </a:solidFill>
                        </a:rPr>
                        <a:t>Kubernetes + Helm</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Docker Swarm, ECS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c>
                  <a:txBody>
                    <a:bodyPr/>
                    <a:lstStyle/>
                    <a:p>
                      <a:pPr indent="0" marL="0">
                        <a:buNone/>
                      </a:pPr>
                      <a:r>
                        <a:rPr lang="en-US" sz="1300" dirty="0">
                          <a:solidFill>
                            <a:srgbClr val="1F2A24"/>
                          </a:solidFill>
                        </a:rPr>
                        <a:t>Self-healing, rolling updates, portable</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FFFFFF"/>
                    </a:solidFill>
                  </a:tcPr>
                </a:tc>
              </a:tr>
              <a:tr h="438912">
                <a:tc>
                  <a:txBody>
                    <a:bodyPr/>
                    <a:lstStyle/>
                    <a:p>
                      <a:pPr indent="0" marL="0">
                        <a:buNone/>
                      </a:pPr>
                      <a:r>
                        <a:rPr lang="en-US" sz="1300" dirty="0">
                          <a:solidFill>
                            <a:srgbClr val="1F2A24"/>
                          </a:solidFill>
                        </a:rPr>
                        <a:t>Monitoring</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b="1" dirty="0">
                          <a:solidFill>
                            <a:srgbClr val="1F2A24"/>
                          </a:solidFill>
                        </a:rPr>
                        <a:t>Prometheus + Grafana</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CloudWatch, Datadog</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c>
                  <a:txBody>
                    <a:bodyPr/>
                    <a:lstStyle/>
                    <a:p>
                      <a:pPr indent="0" marL="0">
                        <a:buNone/>
                      </a:pPr>
                      <a:r>
                        <a:rPr lang="en-US" sz="1300" dirty="0">
                          <a:solidFill>
                            <a:srgbClr val="1F2A24"/>
                          </a:solidFill>
                        </a:rPr>
                        <a:t>Open source, pull-based, rich dashboards</a:t>
                      </a:r>
                      <a:endParaRPr lang="en-US" sz="1300" dirty="0"/>
                    </a:p>
                  </a:txBody>
                  <a:tcPr marL="109728" marR="109728" marT="36576" marB="36576" anchor="ctr">
                    <a:lnL w="6350" cap="flat" cmpd="sng" algn="ctr">
                      <a:solidFill>
                        <a:srgbClr val="D5DBD7"/>
                      </a:solidFill>
                      <a:prstDash val="solid"/>
                      <a:round/>
                      <a:headEnd type="none" w="med" len="med"/>
                      <a:tailEnd type="none" w="med" len="med"/>
                    </a:lnL>
                    <a:lnR w="6350" cap="flat" cmpd="sng" algn="ctr">
                      <a:solidFill>
                        <a:srgbClr val="D5DBD7"/>
                      </a:solidFill>
                      <a:prstDash val="solid"/>
                      <a:round/>
                      <a:headEnd type="none" w="med" len="med"/>
                      <a:tailEnd type="none" w="med" len="med"/>
                    </a:lnR>
                    <a:lnT w="6350" cap="flat" cmpd="sng" algn="ctr">
                      <a:solidFill>
                        <a:srgbClr val="D5DBD7"/>
                      </a:solidFill>
                      <a:prstDash val="solid"/>
                      <a:round/>
                      <a:headEnd type="none" w="med" len="med"/>
                      <a:tailEnd type="none" w="med" len="med"/>
                    </a:lnT>
                    <a:lnB w="6350" cap="flat" cmpd="sng" algn="ctr">
                      <a:solidFill>
                        <a:srgbClr val="D5DBD7"/>
                      </a:solidFill>
                      <a:prstDash val="solid"/>
                      <a:round/>
                      <a:headEnd type="none" w="med" len="med"/>
                      <a:tailEnd type="none" w="med" len="med"/>
                    </a:lnB>
                    <a:solidFill>
                      <a:srgbClr val="EEF4F0"/>
                    </a:solidFill>
                  </a:tcPr>
                </a:tc>
              </a:tr>
            </a:tbl>
          </a:graphicData>
        </a:graphic>
      </p:graphicFrame>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The codebase on GitHub</a:t>
            </a:r>
            <a:endParaRPr lang="en-US" sz="3400" dirty="0"/>
          </a:p>
        </p:txBody>
      </p:sp>
      <p:pic>
        <p:nvPicPr>
          <p:cNvPr id="3" name="GitHub repo screenshot" descr="GitHub repo screenshot">    </p:cNvPr>
          <p:cNvPicPr>
            <a:picLocks noChangeAspect="1"/>
          </p:cNvPicPr>
          <p:nvPr/>
        </p:nvPicPr>
        <p:blipFill>
          <a:blip r:embed="rId1"/>
          <a:stretch>
            <a:fillRect/>
          </a:stretch>
        </p:blipFill>
        <p:spPr>
          <a:xfrm>
            <a:off x="639211" y="1280160"/>
            <a:ext cx="6768298" cy="4937760"/>
          </a:xfrm>
          <a:prstGeom prst="rect">
            <a:avLst/>
          </a:prstGeom>
          <a:effectLst>
            <a:outerShdw sx="100000" sy="100000" kx="0" ky="0" algn="bl" rotWithShape="0" blurRad="101600" dist="25400" dir="5400000">
              <a:srgbClr val="000000">
                <a:alpha val="18000"/>
              </a:srgbClr>
            </a:outerShdw>
          </a:effectLst>
        </p:spPr>
      </p:pic>
      <p:sp>
        <p:nvSpPr>
          <p:cNvPr id="4" name="GitHub repo screenshot frame"/>
          <p:cNvSpPr/>
          <p:nvPr/>
        </p:nvSpPr>
        <p:spPr>
          <a:xfrm>
            <a:off x="639211" y="1280160"/>
            <a:ext cx="6768298" cy="4937760"/>
          </a:xfrm>
          <a:prstGeom prst="rect">
            <a:avLst/>
          </a:prstGeom>
          <a:ln w="9525">
            <a:solidFill>
              <a:srgbClr val="D5DBD7"/>
            </a:solidFill>
            <a:prstDash val="solid"/>
          </a:ln>
        </p:spPr>
      </p:sp>
      <p:sp>
        <p:nvSpPr>
          <p:cNvPr id="5" name="Commits value"/>
          <p:cNvSpPr txBox="1"/>
          <p:nvPr/>
        </p:nvSpPr>
        <p:spPr>
          <a:xfrm>
            <a:off x="7955280" y="1463040"/>
            <a:ext cx="3657600" cy="822960"/>
          </a:xfrm>
          <a:prstGeom prst="rect">
            <a:avLst/>
          </a:prstGeom>
          <a:noFill/>
          <a:ln/>
        </p:spPr>
        <p:txBody>
          <a:bodyPr wrap="square" lIns="0" tIns="0" rIns="0" bIns="0" rtlCol="0" anchor="ctr"/>
          <a:lstStyle/>
          <a:p>
            <a:pPr indent="0" marL="0">
              <a:buNone/>
            </a:pPr>
            <a:r>
              <a:rPr lang="en-US" sz="4800" b="1" dirty="0">
                <a:solidFill>
                  <a:schemeClr val="accent1"/>
                </a:solidFill>
                <a:latin typeface="Cambria" pitchFamily="34" charset="0"/>
                <a:ea typeface="Cambria" pitchFamily="34" charset="-122"/>
                <a:cs typeface="Cambria" pitchFamily="34" charset="-120"/>
              </a:rPr>
              <a:t>25+</a:t>
            </a:r>
            <a:endParaRPr lang="en-US" sz="4800" dirty="0"/>
          </a:p>
        </p:txBody>
      </p:sp>
      <p:sp>
        <p:nvSpPr>
          <p:cNvPr id="6" name="Commits label"/>
          <p:cNvSpPr txBox="1"/>
          <p:nvPr/>
        </p:nvSpPr>
        <p:spPr>
          <a:xfrm>
            <a:off x="7955280" y="2286000"/>
            <a:ext cx="3657600" cy="457200"/>
          </a:xfrm>
          <a:prstGeom prst="rect">
            <a:avLst/>
          </a:prstGeom>
          <a:noFill/>
          <a:ln/>
        </p:spPr>
        <p:txBody>
          <a:bodyPr wrap="square" lIns="0" tIns="0" rIns="0" bIns="0" rtlCol="0" anchor="ctr"/>
          <a:lstStyle/>
          <a:p>
            <a:pPr indent="0" marL="0">
              <a:buNone/>
            </a:pPr>
            <a:r>
              <a:rPr lang="en-US" sz="1300" dirty="0">
                <a:solidFill>
                  <a:schemeClr val="accent5"/>
                </a:solidFill>
              </a:rPr>
              <a:t>focused commits with descriptive messages</a:t>
            </a:r>
            <a:endParaRPr lang="en-US" sz="1300" dirty="0"/>
          </a:p>
        </p:txBody>
      </p:sp>
      <p:sp>
        <p:nvSpPr>
          <p:cNvPr id="7" name="Repo bullets"/>
          <p:cNvSpPr txBox="1"/>
          <p:nvPr/>
        </p:nvSpPr>
        <p:spPr>
          <a:xfrm>
            <a:off x="7955280" y="2926080"/>
            <a:ext cx="3657600" cy="320040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A24"/>
                </a:solidFill>
              </a:rPr>
              <a:t>backend/ </a:t>
            </a:r>
            <a:pPr indent="0" marL="0">
              <a:spcAft>
                <a:spcPts val="800"/>
              </a:spcAft>
              <a:buNone/>
            </a:pPr>
            <a:r>
              <a:rPr lang="en-US" sz="1500" dirty="0">
                <a:solidFill>
                  <a:srgbClr val="1F2A24"/>
                </a:solidFill>
              </a:rPr>
              <a:t>FastAPI app, Alembic, tests</a:t>
            </a:r>
            <a:endParaRPr lang="en-US" sz="1500" dirty="0"/>
          </a:p>
          <a:p>
            <a:pPr marL="342900" indent="-342900">
              <a:spcAft>
                <a:spcPts val="800"/>
              </a:spcAft>
              <a:buSzPct val="100000"/>
              <a:buChar char="•"/>
            </a:pPr>
            <a:r>
              <a:rPr lang="en-US" sz="1500" b="1" dirty="0">
                <a:solidFill>
                  <a:srgbClr val="1F2A24"/>
                </a:solidFill>
              </a:rPr>
              <a:t>frontend/ </a:t>
            </a:r>
            <a:pPr indent="0" marL="0">
              <a:spcAft>
                <a:spcPts val="800"/>
              </a:spcAft>
              <a:buNone/>
            </a:pPr>
            <a:r>
              <a:rPr lang="en-US" sz="1500" dirty="0">
                <a:solidFill>
                  <a:srgbClr val="1F2A24"/>
                </a:solidFill>
              </a:rPr>
              <a:t>React app and nginx</a:t>
            </a:r>
            <a:endParaRPr lang="en-US" sz="1500" dirty="0"/>
          </a:p>
          <a:p>
            <a:pPr marL="342900" indent="-342900">
              <a:spcAft>
                <a:spcPts val="800"/>
              </a:spcAft>
              <a:buSzPct val="100000"/>
              <a:buChar char="•"/>
            </a:pPr>
            <a:r>
              <a:rPr lang="en-US" sz="1500" b="1" dirty="0">
                <a:solidFill>
                  <a:srgbClr val="1F2A24"/>
                </a:solidFill>
              </a:rPr>
              <a:t>terraform/ · helm/ · k8s/ </a:t>
            </a:r>
            <a:pPr indent="0" marL="0">
              <a:spcAft>
                <a:spcPts val="800"/>
              </a:spcAft>
              <a:buNone/>
            </a:pPr>
            <a:r>
              <a:rPr lang="en-US" sz="1500" dirty="0">
                <a:solidFill>
                  <a:srgbClr val="1F2A24"/>
                </a:solidFill>
              </a:rPr>
              <a:t>infrastructure</a:t>
            </a:r>
            <a:endParaRPr lang="en-US" sz="1500" dirty="0"/>
          </a:p>
          <a:p>
            <a:pPr marL="342900" indent="-342900">
              <a:spcAft>
                <a:spcPts val="800"/>
              </a:spcAft>
              <a:buSzPct val="100000"/>
              <a:buChar char="•"/>
            </a:pPr>
            <a:r>
              <a:rPr lang="en-US" sz="1500" b="1" dirty="0">
                <a:solidFill>
                  <a:srgbClr val="1F2A24"/>
                </a:solidFill>
              </a:rPr>
              <a:t>monitoring/ </a:t>
            </a:r>
            <a:pPr indent="0" marL="0">
              <a:spcAft>
                <a:spcPts val="800"/>
              </a:spcAft>
              <a:buNone/>
            </a:pPr>
            <a:r>
              <a:rPr lang="en-US" sz="1500" dirty="0">
                <a:solidFill>
                  <a:srgbClr val="1F2A24"/>
                </a:solidFill>
              </a:rPr>
              <a:t>Prometheus and Grafana</a:t>
            </a:r>
            <a:endParaRPr lang="en-US" sz="1500" dirty="0"/>
          </a:p>
          <a:p>
            <a:pPr marL="342900" indent="-342900">
              <a:spcAft>
                <a:spcPts val="800"/>
              </a:spcAft>
              <a:buSzPct val="100000"/>
              <a:buChar char="•"/>
            </a:pPr>
            <a:r>
              <a:rPr lang="en-US" sz="1500" b="1" dirty="0">
                <a:solidFill>
                  <a:srgbClr val="1F2A24"/>
                </a:solidFill>
              </a:rPr>
              <a:t>.gitignore </a:t>
            </a:r>
            <a:pPr indent="0" marL="0">
              <a:spcAft>
                <a:spcPts val="800"/>
              </a:spcAft>
              <a:buNone/>
            </a:pPr>
            <a:r>
              <a:rPr lang="en-US" sz="1500" dirty="0">
                <a:solidFill>
                  <a:srgbClr val="1F2A24"/>
                </a:solidFill>
              </a:rPr>
              <a:t>keeps .env, venvs, node_modules and Terraform state out</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One command runs the whole stack</a:t>
            </a:r>
            <a:endParaRPr lang="en-US" sz="3400" dirty="0"/>
          </a:p>
        </p:txBody>
      </p:sp>
      <p:pic>
        <p:nvPicPr>
          <p:cNvPr id="3" name="compose ps screenshot" descr="compose ps screenshot">    </p:cNvPr>
          <p:cNvPicPr>
            <a:picLocks noChangeAspect="1"/>
          </p:cNvPicPr>
          <p:nvPr/>
        </p:nvPicPr>
        <p:blipFill>
          <a:blip r:embed="rId1"/>
          <a:stretch>
            <a:fillRect/>
          </a:stretch>
        </p:blipFill>
        <p:spPr>
          <a:xfrm>
            <a:off x="1777365" y="1325880"/>
            <a:ext cx="4309110" cy="1325880"/>
          </a:xfrm>
          <a:prstGeom prst="rect">
            <a:avLst/>
          </a:prstGeom>
          <a:effectLst>
            <a:outerShdw sx="100000" sy="100000" kx="0" ky="0" algn="bl" rotWithShape="0" blurRad="101600" dist="25400" dir="5400000">
              <a:srgbClr val="000000">
                <a:alpha val="18000"/>
              </a:srgbClr>
            </a:outerShdw>
          </a:effectLst>
        </p:spPr>
      </p:pic>
      <p:sp>
        <p:nvSpPr>
          <p:cNvPr id="4" name="compose ps screenshot frame"/>
          <p:cNvSpPr/>
          <p:nvPr/>
        </p:nvSpPr>
        <p:spPr>
          <a:xfrm>
            <a:off x="1777365" y="1325880"/>
            <a:ext cx="4309110" cy="1325880"/>
          </a:xfrm>
          <a:prstGeom prst="rect">
            <a:avLst/>
          </a:prstGeom>
          <a:ln w="9525">
            <a:solidFill>
              <a:srgbClr val="D5DBD7"/>
            </a:solidFill>
            <a:prstDash val="solid"/>
          </a:ln>
        </p:spPr>
      </p:sp>
      <p:pic>
        <p:nvPicPr>
          <p:cNvPr id="5" name="localhost 3000 screenshot" descr="localhost 3000 screenshot">    </p:cNvPr>
          <p:cNvPicPr>
            <a:picLocks noChangeAspect="1"/>
          </p:cNvPicPr>
          <p:nvPr/>
        </p:nvPicPr>
        <p:blipFill>
          <a:blip r:embed="rId2"/>
          <a:stretch>
            <a:fillRect/>
          </a:stretch>
        </p:blipFill>
        <p:spPr>
          <a:xfrm>
            <a:off x="1420915" y="2880360"/>
            <a:ext cx="5022009" cy="3337560"/>
          </a:xfrm>
          <a:prstGeom prst="rect">
            <a:avLst/>
          </a:prstGeom>
          <a:effectLst>
            <a:outerShdw sx="100000" sy="100000" kx="0" ky="0" algn="bl" rotWithShape="0" blurRad="101600" dist="25400" dir="5400000">
              <a:srgbClr val="000000">
                <a:alpha val="18000"/>
              </a:srgbClr>
            </a:outerShdw>
          </a:effectLst>
        </p:spPr>
      </p:pic>
      <p:sp>
        <p:nvSpPr>
          <p:cNvPr id="6" name="localhost 3000 screenshot frame"/>
          <p:cNvSpPr/>
          <p:nvPr/>
        </p:nvSpPr>
        <p:spPr>
          <a:xfrm>
            <a:off x="1420915" y="2880360"/>
            <a:ext cx="5022009" cy="3337560"/>
          </a:xfrm>
          <a:prstGeom prst="rect">
            <a:avLst/>
          </a:prstGeom>
          <a:ln w="9525">
            <a:solidFill>
              <a:srgbClr val="D5DBD7"/>
            </a:solidFill>
            <a:prstDash val="solid"/>
          </a:ln>
        </p:spPr>
      </p:sp>
      <p:sp>
        <p:nvSpPr>
          <p:cNvPr id="7" name="Compose command"/>
          <p:cNvSpPr txBox="1"/>
          <p:nvPr/>
        </p:nvSpPr>
        <p:spPr>
          <a:xfrm>
            <a:off x="7772400" y="1371600"/>
            <a:ext cx="3840480" cy="457200"/>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docker compose up --build</a:t>
            </a:r>
            <a:endParaRPr lang="en-US" sz="1600" dirty="0"/>
          </a:p>
        </p:txBody>
      </p:sp>
      <p:sp>
        <p:nvSpPr>
          <p:cNvPr id="8" name="Docker bullets"/>
          <p:cNvSpPr txBox="1"/>
          <p:nvPr/>
        </p:nvSpPr>
        <p:spPr>
          <a:xfrm>
            <a:off x="7772400" y="2011680"/>
            <a:ext cx="3840480" cy="402336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A24"/>
                </a:solidFill>
              </a:rPr>
              <a:t>3 services: </a:t>
            </a:r>
            <a:pPr indent="0" marL="0">
              <a:spcAft>
                <a:spcPts val="800"/>
              </a:spcAft>
              <a:buNone/>
            </a:pPr>
            <a:r>
              <a:rPr lang="en-US" sz="1500" dirty="0">
                <a:solidFill>
                  <a:srgbClr val="1F2A24"/>
                </a:solidFill>
              </a:rPr>
              <a:t>frontend :3000, backend :8000, PostgreSQL</a:t>
            </a:r>
            <a:endParaRPr lang="en-US" sz="1500" dirty="0"/>
          </a:p>
          <a:p>
            <a:pPr marL="342900" indent="-342900">
              <a:spcAft>
                <a:spcPts val="800"/>
              </a:spcAft>
              <a:buSzPct val="100000"/>
              <a:buChar char="•"/>
            </a:pPr>
            <a:r>
              <a:rPr lang="en-US" sz="1500" b="1" dirty="0">
                <a:solidFill>
                  <a:srgbClr val="1F2A24"/>
                </a:solidFill>
              </a:rPr>
              <a:t>Multi-stage builds: </a:t>
            </a:r>
            <a:pPr indent="0" marL="0">
              <a:spcAft>
                <a:spcPts val="800"/>
              </a:spcAft>
              <a:buNone/>
            </a:pPr>
            <a:r>
              <a:rPr lang="en-US" sz="1500" dirty="0">
                <a:solidFill>
                  <a:srgbClr val="1F2A24"/>
                </a:solidFill>
              </a:rPr>
              <a:t>Node builds the UI, nginx serves it</a:t>
            </a:r>
            <a:endParaRPr lang="en-US" sz="1500" dirty="0"/>
          </a:p>
          <a:p>
            <a:pPr marL="342900" indent="-342900">
              <a:spcAft>
                <a:spcPts val="800"/>
              </a:spcAft>
              <a:buSzPct val="100000"/>
              <a:buChar char="•"/>
            </a:pPr>
            <a:r>
              <a:rPr lang="en-US" sz="1500" b="1" dirty="0">
                <a:solidFill>
                  <a:srgbClr val="1F2A24"/>
                </a:solidFill>
              </a:rPr>
              <a:t>Non-root: </a:t>
            </a:r>
            <a:pPr indent="0" marL="0">
              <a:spcAft>
                <a:spcPts val="800"/>
              </a:spcAft>
              <a:buNone/>
            </a:pPr>
            <a:r>
              <a:rPr lang="en-US" sz="1500" dirty="0">
                <a:solidFill>
                  <a:srgbClr val="1F2A24"/>
                </a:solidFill>
              </a:rPr>
              <a:t>backend uid 10001, frontend uid 101</a:t>
            </a:r>
            <a:endParaRPr lang="en-US" sz="1500" dirty="0"/>
          </a:p>
          <a:p>
            <a:pPr marL="342900" indent="-342900">
              <a:spcAft>
                <a:spcPts val="800"/>
              </a:spcAft>
              <a:buSzPct val="100000"/>
              <a:buChar char="•"/>
            </a:pPr>
            <a:r>
              <a:rPr lang="en-US" sz="1500" b="1" dirty="0">
                <a:solidFill>
                  <a:srgbClr val="1F2A24"/>
                </a:solidFill>
              </a:rPr>
              <a:t>Healthchecks + depends_on: </a:t>
            </a:r>
            <a:pPr indent="0" marL="0">
              <a:spcAft>
                <a:spcPts val="800"/>
              </a:spcAft>
              <a:buNone/>
            </a:pPr>
            <a:r>
              <a:rPr lang="en-US" sz="1500" dirty="0">
                <a:solidFill>
                  <a:srgbClr val="1F2A24"/>
                </a:solidFill>
              </a:rPr>
              <a:t>services start in the right order</a:t>
            </a:r>
            <a:endParaRPr lang="en-US" sz="1500" dirty="0"/>
          </a:p>
          <a:p>
            <a:pPr marL="342900" indent="-342900">
              <a:spcAft>
                <a:spcPts val="800"/>
              </a:spcAft>
              <a:buSzPct val="100000"/>
              <a:buChar char="•"/>
            </a:pPr>
            <a:r>
              <a:rPr lang="en-US" sz="1500" b="1" dirty="0">
                <a:solidFill>
                  <a:srgbClr val="1F2A24"/>
                </a:solidFill>
              </a:rPr>
              <a:t>Volume + bridge network: </a:t>
            </a:r>
            <a:pPr indent="0" marL="0">
              <a:spcAft>
                <a:spcPts val="800"/>
              </a:spcAft>
              <a:buNone/>
            </a:pPr>
            <a:r>
              <a:rPr lang="en-US" sz="1500" dirty="0">
                <a:solidFill>
                  <a:srgbClr val="1F2A24"/>
                </a:solidFill>
              </a:rPr>
              <a:t>data survives restarts</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Tests run before anything is built</a:t>
            </a:r>
            <a:endParaRPr lang="en-US" sz="3400" dirty="0"/>
          </a:p>
        </p:txBody>
      </p:sp>
      <p:sp>
        <p:nvSpPr>
          <p:cNvPr id="3" name="Tests value"/>
          <p:cNvSpPr txBox="1"/>
          <p:nvPr/>
        </p:nvSpPr>
        <p:spPr>
          <a:xfrm>
            <a:off x="548640" y="1463040"/>
            <a:ext cx="2926080" cy="82296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19</a:t>
            </a:r>
            <a:endParaRPr lang="en-US" sz="6600" dirty="0"/>
          </a:p>
        </p:txBody>
      </p:sp>
      <p:sp>
        <p:nvSpPr>
          <p:cNvPr id="4" name="Tests label"/>
          <p:cNvSpPr txBox="1"/>
          <p:nvPr/>
        </p:nvSpPr>
        <p:spPr>
          <a:xfrm>
            <a:off x="548640" y="2286000"/>
            <a:ext cx="2926080" cy="457200"/>
          </a:xfrm>
          <a:prstGeom prst="rect">
            <a:avLst/>
          </a:prstGeom>
          <a:noFill/>
          <a:ln/>
        </p:spPr>
        <p:txBody>
          <a:bodyPr wrap="square" lIns="0" tIns="0" rIns="0" bIns="0" rtlCol="0" anchor="ctr"/>
          <a:lstStyle/>
          <a:p>
            <a:pPr indent="0" marL="0">
              <a:buNone/>
            </a:pPr>
            <a:r>
              <a:rPr lang="en-US" sz="1300" dirty="0">
                <a:solidFill>
                  <a:schemeClr val="accent5"/>
                </a:solidFill>
              </a:rPr>
              <a:t>pytest tests, all passing</a:t>
            </a:r>
            <a:endParaRPr lang="en-US" sz="1300" dirty="0"/>
          </a:p>
        </p:txBody>
      </p:sp>
      <p:sp>
        <p:nvSpPr>
          <p:cNvPr id="5" name="Endpoints value"/>
          <p:cNvSpPr txBox="1"/>
          <p:nvPr/>
        </p:nvSpPr>
        <p:spPr>
          <a:xfrm>
            <a:off x="548640" y="3017520"/>
            <a:ext cx="2926080" cy="82296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8</a:t>
            </a:r>
            <a:endParaRPr lang="en-US" sz="6600" dirty="0"/>
          </a:p>
        </p:txBody>
      </p:sp>
      <p:sp>
        <p:nvSpPr>
          <p:cNvPr id="6" name="Endpoints label"/>
          <p:cNvSpPr txBox="1"/>
          <p:nvPr/>
        </p:nvSpPr>
        <p:spPr>
          <a:xfrm>
            <a:off x="548640" y="3840480"/>
            <a:ext cx="2926080" cy="457200"/>
          </a:xfrm>
          <a:prstGeom prst="rect">
            <a:avLst/>
          </a:prstGeom>
          <a:noFill/>
          <a:ln/>
        </p:spPr>
        <p:txBody>
          <a:bodyPr wrap="square" lIns="0" tIns="0" rIns="0" bIns="0" rtlCol="0" anchor="ctr"/>
          <a:lstStyle/>
          <a:p>
            <a:pPr indent="0" marL="0">
              <a:buNone/>
            </a:pPr>
            <a:r>
              <a:rPr lang="en-US" sz="1300" dirty="0">
                <a:solidFill>
                  <a:schemeClr val="accent5"/>
                </a:solidFill>
              </a:rPr>
              <a:t>API endpoints covered</a:t>
            </a:r>
            <a:endParaRPr lang="en-US" sz="1300" dirty="0"/>
          </a:p>
        </p:txBody>
      </p:sp>
      <p:sp>
        <p:nvSpPr>
          <p:cNvPr id="7" name="DB value"/>
          <p:cNvSpPr txBox="1"/>
          <p:nvPr/>
        </p:nvSpPr>
        <p:spPr>
          <a:xfrm>
            <a:off x="548640" y="4572000"/>
            <a:ext cx="2926080" cy="822960"/>
          </a:xfrm>
          <a:prstGeom prst="rect">
            <a:avLst/>
          </a:prstGeom>
          <a:noFill/>
          <a:ln/>
        </p:spPr>
        <p:txBody>
          <a:bodyPr wrap="square" lIns="0" tIns="0" rIns="0" bIns="0" rtlCol="0" anchor="ctr"/>
          <a:lstStyle/>
          <a:p>
            <a:pPr indent="0" marL="0">
              <a:buNone/>
            </a:pPr>
            <a:r>
              <a:rPr lang="en-US" sz="6600" b="1" dirty="0">
                <a:solidFill>
                  <a:schemeClr val="accent1"/>
                </a:solidFill>
                <a:latin typeface="Cambria" pitchFamily="34" charset="0"/>
                <a:ea typeface="Cambria" pitchFamily="34" charset="-122"/>
                <a:cs typeface="Cambria" pitchFamily="34" charset="-120"/>
              </a:rPr>
              <a:t>0</a:t>
            </a:r>
            <a:endParaRPr lang="en-US" sz="6600" dirty="0"/>
          </a:p>
        </p:txBody>
      </p:sp>
      <p:sp>
        <p:nvSpPr>
          <p:cNvPr id="8" name="DB label"/>
          <p:cNvSpPr txBox="1"/>
          <p:nvPr/>
        </p:nvSpPr>
        <p:spPr>
          <a:xfrm>
            <a:off x="548640" y="5394960"/>
            <a:ext cx="2926080" cy="457200"/>
          </a:xfrm>
          <a:prstGeom prst="rect">
            <a:avLst/>
          </a:prstGeom>
          <a:noFill/>
          <a:ln/>
        </p:spPr>
        <p:txBody>
          <a:bodyPr wrap="square" lIns="0" tIns="0" rIns="0" bIns="0" rtlCol="0" anchor="ctr"/>
          <a:lstStyle/>
          <a:p>
            <a:pPr indent="0" marL="0">
              <a:buNone/>
            </a:pPr>
            <a:r>
              <a:rPr lang="en-US" sz="1300" dirty="0">
                <a:solidFill>
                  <a:schemeClr val="accent5"/>
                </a:solidFill>
              </a:rPr>
              <a:t>real databases touched: tests use an in-memory SQLite DB</a:t>
            </a:r>
            <a:endParaRPr lang="en-US" sz="1300" dirty="0"/>
          </a:p>
        </p:txBody>
      </p:sp>
      <p:pic>
        <p:nvPicPr>
          <p:cNvPr id="9" name="pytest screenshot" descr="pytest screenshot">    </p:cNvPr>
          <p:cNvPicPr>
            <a:picLocks noChangeAspect="1"/>
          </p:cNvPicPr>
          <p:nvPr/>
        </p:nvPicPr>
        <p:blipFill>
          <a:blip r:embed="rId1"/>
          <a:stretch>
            <a:fillRect/>
          </a:stretch>
        </p:blipFill>
        <p:spPr>
          <a:xfrm>
            <a:off x="3841427" y="1325880"/>
            <a:ext cx="7770506" cy="4892040"/>
          </a:xfrm>
          <a:prstGeom prst="rect">
            <a:avLst/>
          </a:prstGeom>
          <a:effectLst>
            <a:outerShdw sx="100000" sy="100000" kx="0" ky="0" algn="bl" rotWithShape="0" blurRad="101600" dist="25400" dir="5400000">
              <a:srgbClr val="000000">
                <a:alpha val="18000"/>
              </a:srgbClr>
            </a:outerShdw>
          </a:effectLst>
        </p:spPr>
      </p:pic>
      <p:sp>
        <p:nvSpPr>
          <p:cNvPr id="10" name="pytest screenshot frame"/>
          <p:cNvSpPr/>
          <p:nvPr/>
        </p:nvSpPr>
        <p:spPr>
          <a:xfrm>
            <a:off x="3841427" y="1325880"/>
            <a:ext cx="7770506" cy="4892040"/>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CI/CD: from push to deployment</a:t>
            </a:r>
            <a:endParaRPr lang="en-US" sz="3400" dirty="0"/>
          </a:p>
        </p:txBody>
      </p:sp>
      <p:sp>
        <p:nvSpPr>
          <p:cNvPr id="3" name="Stage 1"/>
          <p:cNvSpPr/>
          <p:nvPr/>
        </p:nvSpPr>
        <p:spPr>
          <a:xfrm>
            <a:off x="548640" y="1325880"/>
            <a:ext cx="2286000" cy="685800"/>
          </a:xfrm>
          <a:prstGeom prst="chevron">
            <a:avLst/>
          </a:prstGeom>
          <a:solidFill>
            <a:srgbClr val="2F7D5B"/>
          </a:solidFill>
          <a:ln/>
        </p:spPr>
      </p:sp>
      <p:sp>
        <p:nvSpPr>
          <p:cNvPr id="4" name="Stage label 1"/>
          <p:cNvSpPr txBox="1"/>
          <p:nvPr/>
        </p:nvSpPr>
        <p:spPr>
          <a:xfrm>
            <a:off x="868680" y="1325880"/>
            <a:ext cx="1691640" cy="685800"/>
          </a:xfrm>
          <a:prstGeom prst="rect">
            <a:avLst/>
          </a:prstGeom>
          <a:noFill/>
          <a:ln/>
        </p:spPr>
        <p:txBody>
          <a:bodyPr wrap="square" lIns="0" tIns="0" rIns="0" bIns="0" rtlCol="0" anchor="ctr"/>
          <a:lstStyle/>
          <a:p>
            <a:pPr algn="ctr" indent="0" marL="0">
              <a:buNone/>
            </a:pPr>
            <a:r>
              <a:rPr lang="en-US" sz="1500" b="1" dirty="0">
                <a:solidFill>
                  <a:srgbClr val="FFFFFF"/>
                </a:solidFill>
              </a:rPr>
              <a:t>Test</a:t>
            </a:r>
            <a:endParaRPr lang="en-US" sz="1500" dirty="0"/>
          </a:p>
        </p:txBody>
      </p:sp>
      <p:sp>
        <p:nvSpPr>
          <p:cNvPr id="5" name="Stage 2"/>
          <p:cNvSpPr/>
          <p:nvPr/>
        </p:nvSpPr>
        <p:spPr>
          <a:xfrm>
            <a:off x="2779776" y="1325880"/>
            <a:ext cx="2286000" cy="685800"/>
          </a:xfrm>
          <a:prstGeom prst="chevron">
            <a:avLst/>
          </a:prstGeom>
          <a:solidFill>
            <a:srgbClr val="2F7D5B"/>
          </a:solidFill>
          <a:ln/>
        </p:spPr>
      </p:sp>
      <p:sp>
        <p:nvSpPr>
          <p:cNvPr id="6" name="Stage label 2"/>
          <p:cNvSpPr txBox="1"/>
          <p:nvPr/>
        </p:nvSpPr>
        <p:spPr>
          <a:xfrm>
            <a:off x="3099816" y="1325880"/>
            <a:ext cx="1691640" cy="685800"/>
          </a:xfrm>
          <a:prstGeom prst="rect">
            <a:avLst/>
          </a:prstGeom>
          <a:noFill/>
          <a:ln/>
        </p:spPr>
        <p:txBody>
          <a:bodyPr wrap="square" lIns="0" tIns="0" rIns="0" bIns="0" rtlCol="0" anchor="ctr"/>
          <a:lstStyle/>
          <a:p>
            <a:pPr algn="ctr" indent="0" marL="0">
              <a:buNone/>
            </a:pPr>
            <a:r>
              <a:rPr lang="en-US" sz="1500" b="1" dirty="0">
                <a:solidFill>
                  <a:srgbClr val="FFFFFF"/>
                </a:solidFill>
              </a:rPr>
              <a:t>Build</a:t>
            </a:r>
            <a:endParaRPr lang="en-US" sz="1500" dirty="0"/>
          </a:p>
        </p:txBody>
      </p:sp>
      <p:sp>
        <p:nvSpPr>
          <p:cNvPr id="7" name="Stage 3"/>
          <p:cNvSpPr/>
          <p:nvPr/>
        </p:nvSpPr>
        <p:spPr>
          <a:xfrm>
            <a:off x="5010912" y="1325880"/>
            <a:ext cx="2286000" cy="685800"/>
          </a:xfrm>
          <a:prstGeom prst="chevron">
            <a:avLst/>
          </a:prstGeom>
          <a:solidFill>
            <a:srgbClr val="F4C95D"/>
          </a:solidFill>
          <a:ln/>
        </p:spPr>
      </p:sp>
      <p:sp>
        <p:nvSpPr>
          <p:cNvPr id="8" name="Stage label 3"/>
          <p:cNvSpPr txBox="1"/>
          <p:nvPr/>
        </p:nvSpPr>
        <p:spPr>
          <a:xfrm>
            <a:off x="5330952" y="1325880"/>
            <a:ext cx="1691640" cy="685800"/>
          </a:xfrm>
          <a:prstGeom prst="rect">
            <a:avLst/>
          </a:prstGeom>
          <a:noFill/>
          <a:ln/>
        </p:spPr>
        <p:txBody>
          <a:bodyPr wrap="square" lIns="0" tIns="0" rIns="0" bIns="0" rtlCol="0" anchor="ctr"/>
          <a:lstStyle/>
          <a:p>
            <a:pPr algn="ctr" indent="0" marL="0">
              <a:buNone/>
            </a:pPr>
            <a:r>
              <a:rPr lang="en-US" sz="1500" b="1" dirty="0">
                <a:solidFill>
                  <a:srgbClr val="1F2A24"/>
                </a:solidFill>
              </a:rPr>
              <a:t>Trivy scan</a:t>
            </a:r>
            <a:endParaRPr lang="en-US" sz="1500" dirty="0"/>
          </a:p>
        </p:txBody>
      </p:sp>
      <p:sp>
        <p:nvSpPr>
          <p:cNvPr id="9" name="Stage 4"/>
          <p:cNvSpPr/>
          <p:nvPr/>
        </p:nvSpPr>
        <p:spPr>
          <a:xfrm>
            <a:off x="7242048" y="1325880"/>
            <a:ext cx="2286000" cy="685800"/>
          </a:xfrm>
          <a:prstGeom prst="chevron">
            <a:avLst/>
          </a:prstGeom>
          <a:solidFill>
            <a:srgbClr val="2F7D5B"/>
          </a:solidFill>
          <a:ln/>
        </p:spPr>
      </p:sp>
      <p:sp>
        <p:nvSpPr>
          <p:cNvPr id="10" name="Stage label 4"/>
          <p:cNvSpPr txBox="1"/>
          <p:nvPr/>
        </p:nvSpPr>
        <p:spPr>
          <a:xfrm>
            <a:off x="7562088" y="1325880"/>
            <a:ext cx="1691640" cy="685800"/>
          </a:xfrm>
          <a:prstGeom prst="rect">
            <a:avLst/>
          </a:prstGeom>
          <a:noFill/>
          <a:ln/>
        </p:spPr>
        <p:txBody>
          <a:bodyPr wrap="square" lIns="0" tIns="0" rIns="0" bIns="0" rtlCol="0" anchor="ctr"/>
          <a:lstStyle/>
          <a:p>
            <a:pPr algn="ctr" indent="0" marL="0">
              <a:buNone/>
            </a:pPr>
            <a:r>
              <a:rPr lang="en-US" sz="1500" b="1" dirty="0">
                <a:solidFill>
                  <a:srgbClr val="FFFFFF"/>
                </a:solidFill>
              </a:rPr>
              <a:t>Push to GHCR</a:t>
            </a:r>
            <a:endParaRPr lang="en-US" sz="1500" dirty="0"/>
          </a:p>
        </p:txBody>
      </p:sp>
      <p:sp>
        <p:nvSpPr>
          <p:cNvPr id="11" name="Stage 5"/>
          <p:cNvSpPr/>
          <p:nvPr/>
        </p:nvSpPr>
        <p:spPr>
          <a:xfrm>
            <a:off x="9473184" y="1325880"/>
            <a:ext cx="2286000" cy="685800"/>
          </a:xfrm>
          <a:prstGeom prst="chevron">
            <a:avLst/>
          </a:prstGeom>
          <a:solidFill>
            <a:srgbClr val="2F7D5B"/>
          </a:solidFill>
          <a:ln/>
        </p:spPr>
      </p:sp>
      <p:sp>
        <p:nvSpPr>
          <p:cNvPr id="12" name="Stage label 5"/>
          <p:cNvSpPr txBox="1"/>
          <p:nvPr/>
        </p:nvSpPr>
        <p:spPr>
          <a:xfrm>
            <a:off x="9793224" y="1325880"/>
            <a:ext cx="1691640" cy="685800"/>
          </a:xfrm>
          <a:prstGeom prst="rect">
            <a:avLst/>
          </a:prstGeom>
          <a:noFill/>
          <a:ln/>
        </p:spPr>
        <p:txBody>
          <a:bodyPr wrap="square" lIns="0" tIns="0" rIns="0" bIns="0" rtlCol="0" anchor="ctr"/>
          <a:lstStyle/>
          <a:p>
            <a:pPr algn="ctr" indent="0" marL="0">
              <a:buNone/>
            </a:pPr>
            <a:r>
              <a:rPr lang="en-US" sz="1500" b="1" dirty="0">
                <a:solidFill>
                  <a:srgbClr val="FFFFFF"/>
                </a:solidFill>
              </a:rPr>
              <a:t>Deploy (kind)</a:t>
            </a:r>
            <a:endParaRPr lang="en-US" sz="1500" dirty="0"/>
          </a:p>
        </p:txBody>
      </p:sp>
      <p:pic>
        <p:nvPicPr>
          <p:cNvPr id="13" name="Actions run screenshot" descr="Actions run screenshot">    </p:cNvPr>
          <p:cNvPicPr>
            <a:picLocks noChangeAspect="1"/>
          </p:cNvPicPr>
          <p:nvPr/>
        </p:nvPicPr>
        <p:blipFill>
          <a:blip r:embed="rId1"/>
          <a:stretch>
            <a:fillRect/>
          </a:stretch>
        </p:blipFill>
        <p:spPr>
          <a:xfrm>
            <a:off x="581576" y="2286000"/>
            <a:ext cx="6289207" cy="3977640"/>
          </a:xfrm>
          <a:prstGeom prst="rect">
            <a:avLst/>
          </a:prstGeom>
          <a:effectLst>
            <a:outerShdw sx="100000" sy="100000" kx="0" ky="0" algn="bl" rotWithShape="0" blurRad="101600" dist="25400" dir="5400000">
              <a:srgbClr val="000000">
                <a:alpha val="18000"/>
              </a:srgbClr>
            </a:outerShdw>
          </a:effectLst>
        </p:spPr>
      </p:pic>
      <p:sp>
        <p:nvSpPr>
          <p:cNvPr id="14" name="Actions run screenshot frame"/>
          <p:cNvSpPr/>
          <p:nvPr/>
        </p:nvSpPr>
        <p:spPr>
          <a:xfrm>
            <a:off x="581576" y="2286000"/>
            <a:ext cx="6289207" cy="3977640"/>
          </a:xfrm>
          <a:prstGeom prst="rect">
            <a:avLst/>
          </a:prstGeom>
          <a:ln w="9525">
            <a:solidFill>
              <a:srgbClr val="D5DBD7"/>
            </a:solidFill>
            <a:prstDash val="solid"/>
          </a:ln>
        </p:spPr>
      </p:sp>
      <p:pic>
        <p:nvPicPr>
          <p:cNvPr id="15" name="GHCR screenshot" descr="GHCR screenshot">    </p:cNvPr>
          <p:cNvPicPr>
            <a:picLocks noChangeAspect="1"/>
          </p:cNvPicPr>
          <p:nvPr/>
        </p:nvPicPr>
        <p:blipFill>
          <a:blip r:embed="rId2"/>
          <a:stretch>
            <a:fillRect/>
          </a:stretch>
        </p:blipFill>
        <p:spPr>
          <a:xfrm>
            <a:off x="7132320" y="2640441"/>
            <a:ext cx="4480560" cy="3268758"/>
          </a:xfrm>
          <a:prstGeom prst="rect">
            <a:avLst/>
          </a:prstGeom>
          <a:effectLst>
            <a:outerShdw sx="100000" sy="100000" kx="0" ky="0" algn="bl" rotWithShape="0" blurRad="101600" dist="25400" dir="5400000">
              <a:srgbClr val="000000">
                <a:alpha val="18000"/>
              </a:srgbClr>
            </a:outerShdw>
          </a:effectLst>
        </p:spPr>
      </p:pic>
      <p:sp>
        <p:nvSpPr>
          <p:cNvPr id="16" name="GHCR screenshot frame"/>
          <p:cNvSpPr/>
          <p:nvPr/>
        </p:nvSpPr>
        <p:spPr>
          <a:xfrm>
            <a:off x="7132320" y="2640441"/>
            <a:ext cx="4480560" cy="3268758"/>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A security gate before every push</a:t>
            </a:r>
            <a:endParaRPr lang="en-US" sz="3400" dirty="0"/>
          </a:p>
        </p:txBody>
      </p:sp>
      <p:sp>
        <p:nvSpPr>
          <p:cNvPr id="3" name="Before card"/>
          <p:cNvSpPr/>
          <p:nvPr/>
        </p:nvSpPr>
        <p:spPr>
          <a:xfrm>
            <a:off x="548640" y="1371600"/>
            <a:ext cx="3291840" cy="2194560"/>
          </a:xfrm>
          <a:prstGeom prst="roundRect">
            <a:avLst>
              <a:gd name="adj" fmla="val 5000"/>
            </a:avLst>
          </a:prstGeom>
          <a:solidFill>
            <a:srgbClr val="FBE7E5"/>
          </a:solidFill>
          <a:ln/>
        </p:spPr>
      </p:sp>
      <p:sp>
        <p:nvSpPr>
          <p:cNvPr id="4" name="Before value"/>
          <p:cNvSpPr txBox="1"/>
          <p:nvPr/>
        </p:nvSpPr>
        <p:spPr>
          <a:xfrm>
            <a:off x="777240" y="1554480"/>
            <a:ext cx="2926080" cy="822960"/>
          </a:xfrm>
          <a:prstGeom prst="rect">
            <a:avLst/>
          </a:prstGeom>
          <a:noFill/>
          <a:ln/>
        </p:spPr>
        <p:txBody>
          <a:bodyPr wrap="square" lIns="0" tIns="0" rIns="0" bIns="0" rtlCol="0" anchor="ctr"/>
          <a:lstStyle/>
          <a:p>
            <a:pPr indent="0" marL="0">
              <a:buNone/>
            </a:pPr>
            <a:r>
              <a:rPr lang="en-US" sz="4400" b="1" dirty="0">
                <a:solidFill>
                  <a:schemeClr val="accent3"/>
                </a:solidFill>
                <a:latin typeface="Cambria" pitchFamily="34" charset="0"/>
                <a:ea typeface="Cambria" pitchFamily="34" charset="-122"/>
                <a:cs typeface="Cambria" pitchFamily="34" charset="-120"/>
              </a:rPr>
              <a:t>4 HIGH</a:t>
            </a:r>
            <a:endParaRPr lang="en-US" sz="4400" dirty="0"/>
          </a:p>
        </p:txBody>
      </p:sp>
      <p:sp>
        <p:nvSpPr>
          <p:cNvPr id="5" name="Before label"/>
          <p:cNvSpPr txBox="1"/>
          <p:nvPr/>
        </p:nvSpPr>
        <p:spPr>
          <a:xfrm>
            <a:off x="777240" y="2377440"/>
            <a:ext cx="2926080" cy="457200"/>
          </a:xfrm>
          <a:prstGeom prst="rect">
            <a:avLst/>
          </a:prstGeom>
          <a:noFill/>
          <a:ln/>
        </p:spPr>
        <p:txBody>
          <a:bodyPr wrap="square" lIns="0" tIns="0" rIns="0" bIns="0" rtlCol="0" anchor="ctr"/>
          <a:lstStyle/>
          <a:p>
            <a:pPr indent="0" marL="0">
              <a:buNone/>
            </a:pPr>
            <a:r>
              <a:rPr lang="en-US" sz="1300" dirty="0">
                <a:solidFill>
                  <a:schemeClr val="accent5"/>
                </a:solidFill>
              </a:rPr>
              <a:t>CVEs in the first backend image, so the pipeline failed</a:t>
            </a:r>
            <a:endParaRPr lang="en-US" sz="1300" dirty="0"/>
          </a:p>
        </p:txBody>
      </p:sp>
      <p:sp>
        <p:nvSpPr>
          <p:cNvPr id="6" name="After card"/>
          <p:cNvSpPr/>
          <p:nvPr/>
        </p:nvSpPr>
        <p:spPr>
          <a:xfrm>
            <a:off x="548640" y="3840480"/>
            <a:ext cx="3291840" cy="2194560"/>
          </a:xfrm>
          <a:prstGeom prst="roundRect">
            <a:avLst>
              <a:gd name="adj" fmla="val 5000"/>
            </a:avLst>
          </a:prstGeom>
          <a:solidFill>
            <a:srgbClr val="EEF4F0"/>
          </a:solidFill>
          <a:ln/>
        </p:spPr>
      </p:sp>
      <p:sp>
        <p:nvSpPr>
          <p:cNvPr id="7" name="After value"/>
          <p:cNvSpPr txBox="1"/>
          <p:nvPr/>
        </p:nvSpPr>
        <p:spPr>
          <a:xfrm>
            <a:off x="777240" y="4023360"/>
            <a:ext cx="2926080" cy="82296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a:t>
            </a:r>
            <a:endParaRPr lang="en-US" sz="4400" dirty="0"/>
          </a:p>
        </p:txBody>
      </p:sp>
      <p:sp>
        <p:nvSpPr>
          <p:cNvPr id="8" name="After label"/>
          <p:cNvSpPr txBox="1"/>
          <p:nvPr/>
        </p:nvSpPr>
        <p:spPr>
          <a:xfrm>
            <a:off x="777240" y="4846320"/>
            <a:ext cx="2926080" cy="457200"/>
          </a:xfrm>
          <a:prstGeom prst="rect">
            <a:avLst/>
          </a:prstGeom>
          <a:noFill/>
          <a:ln/>
        </p:spPr>
        <p:txBody>
          <a:bodyPr wrap="square" lIns="0" tIns="0" rIns="0" bIns="0" rtlCol="0" anchor="ctr"/>
          <a:lstStyle/>
          <a:p>
            <a:pPr indent="0" marL="0">
              <a:buNone/>
            </a:pPr>
            <a:r>
              <a:rPr lang="en-US" sz="1300" dirty="0">
                <a:solidFill>
                  <a:schemeClr val="accent5"/>
                </a:solidFill>
              </a:rPr>
              <a:t>fixable HIGH/CRITICAL CVEs in either image today</a:t>
            </a:r>
            <a:endParaRPr lang="en-US" sz="1300" dirty="0"/>
          </a:p>
        </p:txBody>
      </p:sp>
      <p:sp>
        <p:nvSpPr>
          <p:cNvPr id="9" name="CVE text"/>
          <p:cNvSpPr txBox="1"/>
          <p:nvPr/>
        </p:nvSpPr>
        <p:spPr>
          <a:xfrm>
            <a:off x="4160520" y="1371600"/>
            <a:ext cx="7452360" cy="1188720"/>
          </a:xfrm>
          <a:prstGeom prst="rect">
            <a:avLst/>
          </a:prstGeom>
          <a:noFill/>
          <a:ln/>
        </p:spPr>
        <p:txBody>
          <a:bodyPr wrap="square" lIns="0" tIns="0" rIns="0" bIns="0" rtlCol="0" anchor="t"/>
          <a:lstStyle/>
          <a:p>
            <a:pPr indent="0" marL="0">
              <a:buNone/>
            </a:pPr>
            <a:r>
              <a:rPr lang="en-US" sz="1600" b="1" dirty="0">
                <a:solidFill>
                  <a:srgbClr val="1F2A24"/>
                </a:solidFill>
              </a:rPr>
              <a:t>Example: CVE-2025-47273</a:t>
            </a:r>
            <a:endParaRPr lang="en-US" sz="1600" dirty="0"/>
          </a:p>
          <a:p>
            <a:pPr indent="0" marL="0">
              <a:buNone/>
            </a:pPr>
            <a:r>
              <a:rPr lang="en-US" sz="1400" dirty="0">
                <a:solidFill>
                  <a:srgbClr val="6B766F"/>
                </a:solidFill>
              </a:rPr>
              <a:t>A path-traversal bug in setuptools 70.3.0 that lets a crafted package URL write files outside its folder. The app never needed setuptools at runtime, so I removed pip and setuptools from the final image.</a:t>
            </a:r>
            <a:endParaRPr lang="en-US" sz="1600" dirty="0"/>
          </a:p>
        </p:txBody>
      </p:sp>
      <p:pic>
        <p:nvPicPr>
          <p:cNvPr id="10" name="Trivy findings screenshot" descr="Trivy findings screenshot">    </p:cNvPr>
          <p:cNvPicPr>
            <a:picLocks noChangeAspect="1"/>
          </p:cNvPicPr>
          <p:nvPr/>
        </p:nvPicPr>
        <p:blipFill>
          <a:blip r:embed="rId1"/>
          <a:stretch>
            <a:fillRect/>
          </a:stretch>
        </p:blipFill>
        <p:spPr>
          <a:xfrm>
            <a:off x="4160520" y="2706395"/>
            <a:ext cx="7452360" cy="3502609"/>
          </a:xfrm>
          <a:prstGeom prst="rect">
            <a:avLst/>
          </a:prstGeom>
          <a:effectLst>
            <a:outerShdw sx="100000" sy="100000" kx="0" ky="0" algn="bl" rotWithShape="0" blurRad="101600" dist="25400" dir="5400000">
              <a:srgbClr val="000000">
                <a:alpha val="18000"/>
              </a:srgbClr>
            </a:outerShdw>
          </a:effectLst>
        </p:spPr>
      </p:pic>
      <p:sp>
        <p:nvSpPr>
          <p:cNvPr id="11" name="Trivy findings screenshot frame"/>
          <p:cNvSpPr/>
          <p:nvPr/>
        </p:nvSpPr>
        <p:spPr>
          <a:xfrm>
            <a:off x="4160520" y="2706395"/>
            <a:ext cx="7452360" cy="3502609"/>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Infrastructure as code with Terraform</a:t>
            </a:r>
            <a:endParaRPr lang="en-US" sz="3400" dirty="0"/>
          </a:p>
        </p:txBody>
      </p:sp>
      <p:sp>
        <p:nvSpPr>
          <p:cNvPr id="3" name="Resources value"/>
          <p:cNvSpPr txBox="1"/>
          <p:nvPr/>
        </p:nvSpPr>
        <p:spPr>
          <a:xfrm>
            <a:off x="548640" y="1417320"/>
            <a:ext cx="3291840" cy="822960"/>
          </a:xfrm>
          <a:prstGeom prst="rect">
            <a:avLst/>
          </a:prstGeom>
          <a:noFill/>
          <a:ln/>
        </p:spPr>
        <p:txBody>
          <a:bodyPr wrap="square" lIns="0" tIns="0" rIns="0" bIns="0" rtlCol="0" anchor="ctr"/>
          <a:lstStyle/>
          <a:p>
            <a:pPr indent="0" marL="0">
              <a:buNone/>
            </a:pPr>
            <a:r>
              <a:rPr lang="en-US" sz="6000" b="1" dirty="0">
                <a:solidFill>
                  <a:schemeClr val="accent1"/>
                </a:solidFill>
                <a:latin typeface="Cambria" pitchFamily="34" charset="0"/>
                <a:ea typeface="Cambria" pitchFamily="34" charset="-122"/>
                <a:cs typeface="Cambria" pitchFamily="34" charset="-120"/>
              </a:rPr>
              <a:t>25</a:t>
            </a:r>
            <a:endParaRPr lang="en-US" sz="6000" dirty="0"/>
          </a:p>
        </p:txBody>
      </p:sp>
      <p:sp>
        <p:nvSpPr>
          <p:cNvPr id="4" name="Resources label"/>
          <p:cNvSpPr txBox="1"/>
          <p:nvPr/>
        </p:nvSpPr>
        <p:spPr>
          <a:xfrm>
            <a:off x="548640" y="2240280"/>
            <a:ext cx="3291840" cy="457200"/>
          </a:xfrm>
          <a:prstGeom prst="rect">
            <a:avLst/>
          </a:prstGeom>
          <a:noFill/>
          <a:ln/>
        </p:spPr>
        <p:txBody>
          <a:bodyPr wrap="square" lIns="0" tIns="0" rIns="0" bIns="0" rtlCol="0" anchor="ctr"/>
          <a:lstStyle/>
          <a:p>
            <a:pPr indent="0" marL="0">
              <a:buNone/>
            </a:pPr>
            <a:r>
              <a:rPr lang="en-US" sz="1300" dirty="0">
                <a:solidFill>
                  <a:schemeClr val="accent5"/>
                </a:solidFill>
              </a:rPr>
              <a:t>AWS resources defined in code</a:t>
            </a:r>
            <a:endParaRPr lang="en-US" sz="1300" dirty="0"/>
          </a:p>
        </p:txBody>
      </p:sp>
      <p:sp>
        <p:nvSpPr>
          <p:cNvPr id="5" name="Terraform bullets"/>
          <p:cNvSpPr txBox="1"/>
          <p:nvPr/>
        </p:nvSpPr>
        <p:spPr>
          <a:xfrm>
            <a:off x="548640" y="2880360"/>
            <a:ext cx="3657600" cy="237744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1F2A24"/>
                </a:solidFill>
              </a:rPr>
              <a:t>VPC with 2 public + 2 private subnets in 2 zones</a:t>
            </a:r>
            <a:endParaRPr lang="en-US" sz="1500" dirty="0"/>
          </a:p>
          <a:p>
            <a:pPr marL="342900" indent="-342900">
              <a:spcAft>
                <a:spcPts val="800"/>
              </a:spcAft>
              <a:buSzPct val="100000"/>
              <a:buChar char="•"/>
            </a:pPr>
            <a:r>
              <a:rPr lang="en-US" sz="1500" dirty="0">
                <a:solidFill>
                  <a:srgbClr val="1F2A24"/>
                </a:solidFill>
              </a:rPr>
              <a:t>Internet Gateway, NAT Gateway, route tables</a:t>
            </a:r>
            <a:endParaRPr lang="en-US" sz="1500" dirty="0"/>
          </a:p>
          <a:p>
            <a:pPr marL="342900" indent="-342900">
              <a:spcAft>
                <a:spcPts val="800"/>
              </a:spcAft>
              <a:buSzPct val="100000"/>
              <a:buChar char="•"/>
            </a:pPr>
            <a:r>
              <a:rPr lang="en-US" sz="1500" dirty="0">
                <a:solidFill>
                  <a:srgbClr val="1F2A24"/>
                </a:solidFill>
              </a:rPr>
              <a:t>IAM roles for the cluster and its nodes</a:t>
            </a:r>
            <a:endParaRPr lang="en-US" sz="1500" dirty="0"/>
          </a:p>
          <a:p>
            <a:pPr marL="342900" indent="-342900">
              <a:spcAft>
                <a:spcPts val="800"/>
              </a:spcAft>
              <a:buSzPct val="100000"/>
              <a:buChar char="•"/>
            </a:pPr>
            <a:r>
              <a:rPr lang="en-US" sz="1500" dirty="0">
                <a:solidFill>
                  <a:srgbClr val="1F2A24"/>
                </a:solidFill>
              </a:rPr>
              <a:t>EKS cluster + managed node group (2 × t3.medium)</a:t>
            </a:r>
            <a:endParaRPr lang="en-US" sz="1500" dirty="0"/>
          </a:p>
          <a:p>
            <a:pPr marL="342900" indent="-342900">
              <a:spcAft>
                <a:spcPts val="800"/>
              </a:spcAft>
              <a:buSzPct val="100000"/>
              <a:buChar char="•"/>
            </a:pPr>
            <a:r>
              <a:rPr lang="en-US" sz="1500" b="1" dirty="0">
                <a:solidFill>
                  <a:srgbClr val="1F2A24"/>
                </a:solidFill>
              </a:rPr>
              <a:t>init → plan → apply → destroy</a:t>
            </a:r>
            <a:pPr indent="0" marL="0">
              <a:spcAft>
                <a:spcPts val="800"/>
              </a:spcAft>
              <a:buNone/>
            </a:pPr>
            <a:r>
              <a:rPr lang="en-US" sz="1500" dirty="0">
                <a:solidFill>
                  <a:srgbClr val="1F2A24"/>
                </a:solidFill>
              </a:rPr>
              <a:t> all ran cleanly</a:t>
            </a:r>
            <a:endParaRPr lang="en-US" sz="1500" dirty="0"/>
          </a:p>
        </p:txBody>
      </p:sp>
      <p:sp>
        <p:nvSpPr>
          <p:cNvPr id="6" name="Mock note"/>
          <p:cNvSpPr txBox="1"/>
          <p:nvPr/>
        </p:nvSpPr>
        <p:spPr>
          <a:xfrm>
            <a:off x="548640" y="5349240"/>
            <a:ext cx="3657600" cy="868680"/>
          </a:xfrm>
          <a:prstGeom prst="rect">
            <a:avLst/>
          </a:prstGeom>
          <a:noFill/>
          <a:ln/>
        </p:spPr>
        <p:txBody>
          <a:bodyPr wrap="square" lIns="0" tIns="0" rIns="0" bIns="0" rtlCol="0" anchor="t"/>
          <a:lstStyle/>
          <a:p>
            <a:pPr indent="0" marL="0">
              <a:buNone/>
            </a:pPr>
            <a:r>
              <a:rPr lang="en-US" sz="1200" i="1" dirty="0">
                <a:solidFill>
                  <a:schemeClr val="accent5"/>
                </a:solidFill>
              </a:rPr>
              <a:t>Run against a local mock of the AWS API (moto), so no cloud bill. The same code targets real AWS by changing one variable.</a:t>
            </a:r>
            <a:endParaRPr lang="en-US" sz="1200" dirty="0"/>
          </a:p>
        </p:txBody>
      </p:sp>
      <p:pic>
        <p:nvPicPr>
          <p:cNvPr id="7" name="AWS resources screenshot" descr="AWS resources screenshot">    </p:cNvPr>
          <p:cNvPicPr>
            <a:picLocks noChangeAspect="1"/>
          </p:cNvPicPr>
          <p:nvPr/>
        </p:nvPicPr>
        <p:blipFill>
          <a:blip r:embed="rId1"/>
          <a:stretch>
            <a:fillRect/>
          </a:stretch>
        </p:blipFill>
        <p:spPr>
          <a:xfrm>
            <a:off x="5425984" y="1325880"/>
            <a:ext cx="5241471" cy="4892040"/>
          </a:xfrm>
          <a:prstGeom prst="rect">
            <a:avLst/>
          </a:prstGeom>
          <a:effectLst>
            <a:outerShdw sx="100000" sy="100000" kx="0" ky="0" algn="bl" rotWithShape="0" blurRad="101600" dist="25400" dir="5400000">
              <a:srgbClr val="000000">
                <a:alpha val="18000"/>
              </a:srgbClr>
            </a:outerShdw>
          </a:effectLst>
        </p:spPr>
      </p:pic>
      <p:sp>
        <p:nvSpPr>
          <p:cNvPr id="8" name="AWS resources screenshot frame"/>
          <p:cNvSpPr/>
          <p:nvPr/>
        </p:nvSpPr>
        <p:spPr>
          <a:xfrm>
            <a:off x="5425984" y="1325880"/>
            <a:ext cx="5241471" cy="4892040"/>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Kubernetes and Helm</a:t>
            </a:r>
            <a:endParaRPr lang="en-US" sz="3400" dirty="0"/>
          </a:p>
        </p:txBody>
      </p:sp>
      <p:pic>
        <p:nvPicPr>
          <p:cNvPr id="3" name="Pods screenshot" descr="Pods screenshot">    </p:cNvPr>
          <p:cNvPicPr>
            <a:picLocks noChangeAspect="1"/>
          </p:cNvPicPr>
          <p:nvPr/>
        </p:nvPicPr>
        <p:blipFill>
          <a:blip r:embed="rId1"/>
          <a:stretch>
            <a:fillRect/>
          </a:stretch>
        </p:blipFill>
        <p:spPr>
          <a:xfrm>
            <a:off x="840105" y="1325880"/>
            <a:ext cx="6000750" cy="1600200"/>
          </a:xfrm>
          <a:prstGeom prst="rect">
            <a:avLst/>
          </a:prstGeom>
          <a:effectLst>
            <a:outerShdw sx="100000" sy="100000" kx="0" ky="0" algn="bl" rotWithShape="0" blurRad="101600" dist="25400" dir="5400000">
              <a:srgbClr val="000000">
                <a:alpha val="18000"/>
              </a:srgbClr>
            </a:outerShdw>
          </a:effectLst>
        </p:spPr>
      </p:pic>
      <p:sp>
        <p:nvSpPr>
          <p:cNvPr id="4" name="Pods screenshot frame"/>
          <p:cNvSpPr/>
          <p:nvPr/>
        </p:nvSpPr>
        <p:spPr>
          <a:xfrm>
            <a:off x="840105" y="1325880"/>
            <a:ext cx="6000750" cy="1600200"/>
          </a:xfrm>
          <a:prstGeom prst="rect">
            <a:avLst/>
          </a:prstGeom>
          <a:ln w="9525">
            <a:solidFill>
              <a:srgbClr val="D5DBD7"/>
            </a:solidFill>
            <a:prstDash val="solid"/>
          </a:ln>
        </p:spPr>
      </p:sp>
      <p:pic>
        <p:nvPicPr>
          <p:cNvPr id="5" name="Ingress screenshot" descr="Ingress screenshot">    </p:cNvPr>
          <p:cNvPicPr>
            <a:picLocks noChangeAspect="1"/>
          </p:cNvPicPr>
          <p:nvPr/>
        </p:nvPicPr>
        <p:blipFill>
          <a:blip r:embed="rId2"/>
          <a:stretch>
            <a:fillRect/>
          </a:stretch>
        </p:blipFill>
        <p:spPr>
          <a:xfrm>
            <a:off x="548640" y="3177321"/>
            <a:ext cx="6583680" cy="3017959"/>
          </a:xfrm>
          <a:prstGeom prst="rect">
            <a:avLst/>
          </a:prstGeom>
          <a:effectLst>
            <a:outerShdw sx="100000" sy="100000" kx="0" ky="0" algn="bl" rotWithShape="0" blurRad="101600" dist="25400" dir="5400000">
              <a:srgbClr val="000000">
                <a:alpha val="18000"/>
              </a:srgbClr>
            </a:outerShdw>
          </a:effectLst>
        </p:spPr>
      </p:pic>
      <p:sp>
        <p:nvSpPr>
          <p:cNvPr id="6" name="Ingress screenshot frame"/>
          <p:cNvSpPr/>
          <p:nvPr/>
        </p:nvSpPr>
        <p:spPr>
          <a:xfrm>
            <a:off x="548640" y="3177321"/>
            <a:ext cx="6583680" cy="3017959"/>
          </a:xfrm>
          <a:prstGeom prst="rect">
            <a:avLst/>
          </a:prstGeom>
          <a:ln w="9525">
            <a:solidFill>
              <a:srgbClr val="D5DBD7"/>
            </a:solidFill>
            <a:prstDash val="solid"/>
          </a:ln>
        </p:spPr>
      </p:sp>
      <p:sp>
        <p:nvSpPr>
          <p:cNvPr id="7" name="K8s bullets"/>
          <p:cNvSpPr txBox="1"/>
          <p:nvPr/>
        </p:nvSpPr>
        <p:spPr>
          <a:xfrm>
            <a:off x="7498080" y="1371600"/>
            <a:ext cx="4114800" cy="4846320"/>
          </a:xfrm>
          <a:prstGeom prst="rect">
            <a:avLst/>
          </a:prstGeom>
          <a:noFill/>
          <a:ln/>
        </p:spPr>
        <p:txBody>
          <a:bodyPr wrap="square" lIns="0" tIns="0" rIns="0" bIns="0" rtlCol="0" anchor="t"/>
          <a:lstStyle/>
          <a:p>
            <a:pPr marL="342900" indent="-342900">
              <a:spcAft>
                <a:spcPts val="800"/>
              </a:spcAft>
              <a:buSzPct val="100000"/>
              <a:buChar char="•"/>
            </a:pPr>
            <a:r>
              <a:rPr lang="en-US" sz="1500" b="1" dirty="0">
                <a:solidFill>
                  <a:srgbClr val="1F2A24"/>
                </a:solidFill>
              </a:rPr>
              <a:t>One Helm chart </a:t>
            </a:r>
            <a:pPr indent="0" marL="0">
              <a:spcAft>
                <a:spcPts val="800"/>
              </a:spcAft>
              <a:buNone/>
            </a:pPr>
            <a:r>
              <a:rPr lang="en-US" sz="1500" dirty="0">
                <a:solidFill>
                  <a:srgbClr val="1F2A24"/>
                </a:solidFill>
              </a:rPr>
              <a:t>deploys the frontend, backend, PostgreSQL and Ingress</a:t>
            </a:r>
            <a:endParaRPr lang="en-US" sz="1500" dirty="0"/>
          </a:p>
          <a:p>
            <a:pPr marL="342900" indent="-342900">
              <a:spcAft>
                <a:spcPts val="800"/>
              </a:spcAft>
              <a:buSzPct val="100000"/>
              <a:buChar char="•"/>
            </a:pPr>
            <a:r>
              <a:rPr lang="en-US" sz="1500" b="1" dirty="0">
                <a:solidFill>
                  <a:srgbClr val="1F2A24"/>
                </a:solidFill>
              </a:rPr>
              <a:t>2 replicas each, </a:t>
            </a:r>
            <a:pPr indent="0" marL="0">
              <a:spcAft>
                <a:spcPts val="800"/>
              </a:spcAft>
              <a:buNone/>
            </a:pPr>
            <a:r>
              <a:rPr lang="en-US" sz="1500" dirty="0">
                <a:solidFill>
                  <a:srgbClr val="1F2A24"/>
                </a:solidFill>
              </a:rPr>
              <a:t>rolling updates with zero downtime</a:t>
            </a:r>
            <a:endParaRPr lang="en-US" sz="1500" dirty="0"/>
          </a:p>
          <a:p>
            <a:pPr marL="342900" indent="-342900">
              <a:spcAft>
                <a:spcPts val="800"/>
              </a:spcAft>
              <a:buSzPct val="100000"/>
              <a:buChar char="•"/>
            </a:pPr>
            <a:r>
              <a:rPr lang="en-US" sz="1500" b="1" dirty="0">
                <a:solidFill>
                  <a:srgbClr val="1F2A24"/>
                </a:solidFill>
              </a:rPr>
              <a:t>Ingress: </a:t>
            </a:r>
            <a:pPr indent="0" marL="0">
              <a:spcAft>
                <a:spcPts val="800"/>
              </a:spcAft>
              <a:buNone/>
            </a:pPr>
            <a:r>
              <a:rPr lang="en-US" sz="1500" dirty="0">
                <a:solidFill>
                  <a:srgbClr val="1F2A24"/>
                </a:solidFill>
              </a:rPr>
              <a:t>/ goes to the frontend, /api to the backend</a:t>
            </a:r>
            <a:endParaRPr lang="en-US" sz="1500" dirty="0"/>
          </a:p>
          <a:p>
            <a:pPr marL="342900" indent="-342900">
              <a:spcAft>
                <a:spcPts val="800"/>
              </a:spcAft>
              <a:buSzPct val="100000"/>
              <a:buChar char="•"/>
            </a:pPr>
            <a:r>
              <a:rPr lang="en-US" sz="1500" b="1" dirty="0">
                <a:solidFill>
                  <a:srgbClr val="1F2A24"/>
                </a:solidFill>
              </a:rPr>
              <a:t>Health probes </a:t>
            </a:r>
            <a:pPr indent="0" marL="0">
              <a:spcAft>
                <a:spcPts val="800"/>
              </a:spcAft>
              <a:buNone/>
            </a:pPr>
            <a:r>
              <a:rPr lang="en-US" sz="1500" dirty="0">
                <a:solidFill>
                  <a:srgbClr val="1F2A24"/>
                </a:solidFill>
              </a:rPr>
              <a:t>restart or isolate broken pods automatically</a:t>
            </a:r>
            <a:endParaRPr lang="en-US" sz="1500" dirty="0"/>
          </a:p>
          <a:p>
            <a:pPr marL="342900" indent="-342900">
              <a:spcAft>
                <a:spcPts val="800"/>
              </a:spcAft>
              <a:buSzPct val="100000"/>
              <a:buChar char="•"/>
            </a:pPr>
            <a:r>
              <a:rPr lang="en-US" sz="1500" b="1" dirty="0">
                <a:solidFill>
                  <a:srgbClr val="1F2A24"/>
                </a:solidFill>
              </a:rPr>
              <a:t>Same chart </a:t>
            </a:r>
            <a:pPr indent="0" marL="0">
              <a:spcAft>
                <a:spcPts val="800"/>
              </a:spcAft>
              <a:buNone/>
            </a:pPr>
            <a:r>
              <a:rPr lang="en-US" sz="1500" dirty="0">
                <a:solidFill>
                  <a:srgbClr val="1F2A24"/>
                </a:solidFill>
              </a:rPr>
              <a:t>runs on kind locally and EKS on AWS</a:t>
            </a:r>
            <a:endParaRPr lang="en-US" sz="15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Observability with Prometheus + Grafana</a:t>
            </a:r>
            <a:endParaRPr lang="en-US" sz="3400" dirty="0"/>
          </a:p>
        </p:txBody>
      </p:sp>
      <p:pic>
        <p:nvPicPr>
          <p:cNvPr id="3" name="Grafana screenshot" descr="Grafana screenshot">    </p:cNvPr>
          <p:cNvPicPr>
            <a:picLocks noChangeAspect="1"/>
          </p:cNvPicPr>
          <p:nvPr/>
        </p:nvPicPr>
        <p:blipFill>
          <a:blip r:embed="rId1"/>
          <a:stretch>
            <a:fillRect/>
          </a:stretch>
        </p:blipFill>
        <p:spPr>
          <a:xfrm>
            <a:off x="1671722" y="1325880"/>
            <a:ext cx="5434796" cy="4892040"/>
          </a:xfrm>
          <a:prstGeom prst="rect">
            <a:avLst/>
          </a:prstGeom>
          <a:effectLst>
            <a:outerShdw sx="100000" sy="100000" kx="0" ky="0" algn="bl" rotWithShape="0" blurRad="101600" dist="25400" dir="5400000">
              <a:srgbClr val="000000">
                <a:alpha val="18000"/>
              </a:srgbClr>
            </a:outerShdw>
          </a:effectLst>
        </p:spPr>
      </p:pic>
      <p:sp>
        <p:nvSpPr>
          <p:cNvPr id="4" name="Grafana screenshot frame"/>
          <p:cNvSpPr/>
          <p:nvPr/>
        </p:nvSpPr>
        <p:spPr>
          <a:xfrm>
            <a:off x="1671722" y="1325880"/>
            <a:ext cx="5434796" cy="4892040"/>
          </a:xfrm>
          <a:prstGeom prst="rect">
            <a:avLst/>
          </a:prstGeom>
          <a:ln w="9525">
            <a:solidFill>
              <a:srgbClr val="D5DBD7"/>
            </a:solidFill>
            <a:prstDash val="solid"/>
          </a:ln>
        </p:spPr>
      </p:sp>
      <p:sp>
        <p:nvSpPr>
          <p:cNvPr id="5" name="Rate value"/>
          <p:cNvSpPr txBox="1"/>
          <p:nvPr/>
        </p:nvSpPr>
        <p:spPr>
          <a:xfrm>
            <a:off x="8595360" y="1417320"/>
            <a:ext cx="30175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~20 req/s</a:t>
            </a:r>
            <a:endParaRPr lang="en-US" sz="3600" dirty="0"/>
          </a:p>
        </p:txBody>
      </p:sp>
      <p:sp>
        <p:nvSpPr>
          <p:cNvPr id="6" name="Rate label"/>
          <p:cNvSpPr txBox="1"/>
          <p:nvPr/>
        </p:nvSpPr>
        <p:spPr>
          <a:xfrm>
            <a:off x="8595360" y="2240280"/>
            <a:ext cx="3017520" cy="457200"/>
          </a:xfrm>
          <a:prstGeom prst="rect">
            <a:avLst/>
          </a:prstGeom>
          <a:noFill/>
          <a:ln/>
        </p:spPr>
        <p:txBody>
          <a:bodyPr wrap="square" lIns="0" tIns="0" rIns="0" bIns="0" rtlCol="0" anchor="ctr"/>
          <a:lstStyle/>
          <a:p>
            <a:pPr indent="0" marL="0">
              <a:buNone/>
            </a:pPr>
            <a:r>
              <a:rPr lang="en-US" sz="1300" dirty="0">
                <a:solidFill>
                  <a:schemeClr val="accent5"/>
                </a:solidFill>
              </a:rPr>
              <a:t>live traffic during the test</a:t>
            </a:r>
            <a:endParaRPr lang="en-US" sz="1300" dirty="0"/>
          </a:p>
        </p:txBody>
      </p:sp>
      <p:sp>
        <p:nvSpPr>
          <p:cNvPr id="7" name="Latency value"/>
          <p:cNvSpPr txBox="1"/>
          <p:nvPr/>
        </p:nvSpPr>
        <p:spPr>
          <a:xfrm>
            <a:off x="8595360" y="2971800"/>
            <a:ext cx="30175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~21 ms</a:t>
            </a:r>
            <a:endParaRPr lang="en-US" sz="3600" dirty="0"/>
          </a:p>
        </p:txBody>
      </p:sp>
      <p:sp>
        <p:nvSpPr>
          <p:cNvPr id="8" name="Latency label"/>
          <p:cNvSpPr txBox="1"/>
          <p:nvPr/>
        </p:nvSpPr>
        <p:spPr>
          <a:xfrm>
            <a:off x="8595360" y="3794760"/>
            <a:ext cx="3017520" cy="457200"/>
          </a:xfrm>
          <a:prstGeom prst="rect">
            <a:avLst/>
          </a:prstGeom>
          <a:noFill/>
          <a:ln/>
        </p:spPr>
        <p:txBody>
          <a:bodyPr wrap="square" lIns="0" tIns="0" rIns="0" bIns="0" rtlCol="0" anchor="ctr"/>
          <a:lstStyle/>
          <a:p>
            <a:pPr indent="0" marL="0">
              <a:buNone/>
            </a:pPr>
            <a:r>
              <a:rPr lang="en-US" sz="1300" dirty="0">
                <a:solidFill>
                  <a:schemeClr val="accent5"/>
                </a:solidFill>
              </a:rPr>
              <a:t>p95 response time</a:t>
            </a:r>
            <a:endParaRPr lang="en-US" sz="1300" dirty="0"/>
          </a:p>
        </p:txBody>
      </p:sp>
      <p:sp>
        <p:nvSpPr>
          <p:cNvPr id="9" name="Errors value"/>
          <p:cNvSpPr txBox="1"/>
          <p:nvPr/>
        </p:nvSpPr>
        <p:spPr>
          <a:xfrm>
            <a:off x="8595360" y="4526280"/>
            <a:ext cx="3017520" cy="822960"/>
          </a:xfrm>
          <a:prstGeom prst="rect">
            <a:avLst/>
          </a:prstGeom>
          <a:noFill/>
          <a:ln/>
        </p:spPr>
        <p:txBody>
          <a:bodyPr wrap="square" lIns="0" tIns="0" rIns="0" bIns="0" rtlCol="0" anchor="ctr"/>
          <a:lstStyle/>
          <a:p>
            <a:pPr indent="0" marL="0">
              <a:buNone/>
            </a:pPr>
            <a:r>
              <a:rPr lang="en-US" sz="3600" b="1" dirty="0">
                <a:solidFill>
                  <a:schemeClr val="accent1"/>
                </a:solidFill>
                <a:latin typeface="Cambria" pitchFamily="34" charset="0"/>
                <a:ea typeface="Cambria" pitchFamily="34" charset="-122"/>
                <a:cs typeface="Cambria" pitchFamily="34" charset="-120"/>
              </a:rPr>
              <a:t>0.00%</a:t>
            </a:r>
            <a:endParaRPr lang="en-US" sz="3600" dirty="0"/>
          </a:p>
        </p:txBody>
      </p:sp>
      <p:sp>
        <p:nvSpPr>
          <p:cNvPr id="10" name="Errors label"/>
          <p:cNvSpPr txBox="1"/>
          <p:nvPr/>
        </p:nvSpPr>
        <p:spPr>
          <a:xfrm>
            <a:off x="8595360" y="5349240"/>
            <a:ext cx="3017520" cy="457200"/>
          </a:xfrm>
          <a:prstGeom prst="rect">
            <a:avLst/>
          </a:prstGeom>
          <a:noFill/>
          <a:ln/>
        </p:spPr>
        <p:txBody>
          <a:bodyPr wrap="square" lIns="0" tIns="0" rIns="0" bIns="0" rtlCol="0" anchor="ctr"/>
          <a:lstStyle/>
          <a:p>
            <a:pPr indent="0" marL="0">
              <a:buNone/>
            </a:pPr>
            <a:r>
              <a:rPr lang="en-US" sz="1300" dirty="0">
                <a:solidFill>
                  <a:schemeClr val="accent5"/>
                </a:solidFill>
              </a:rPr>
              <a:t>server errors (5xx)</a:t>
            </a:r>
            <a:endParaRPr lang="en-US" sz="13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latin typeface="Cambria" pitchFamily="34" charset="0"/>
                <a:ea typeface="Cambria" pitchFamily="34" charset="-122"/>
                <a:cs typeface="Cambria" pitchFamily="34" charset="-120"/>
              </a:rPr>
              <a:t>Live demo: commit → pipeline → rollout</a:t>
            </a:r>
            <a:endParaRPr lang="en-US" sz="3400" dirty="0"/>
          </a:p>
        </p:txBody>
      </p:sp>
      <p:sp>
        <p:nvSpPr>
          <p:cNvPr id="3" name="Step circle 1"/>
          <p:cNvSpPr/>
          <p:nvPr/>
        </p:nvSpPr>
        <p:spPr>
          <a:xfrm>
            <a:off x="1197864" y="1508760"/>
            <a:ext cx="731520" cy="731520"/>
          </a:xfrm>
          <a:prstGeom prst="ellipse">
            <a:avLst/>
          </a:prstGeom>
          <a:solidFill>
            <a:srgbClr val="2F7D5B"/>
          </a:solidFill>
          <a:ln/>
        </p:spPr>
      </p:sp>
      <p:sp>
        <p:nvSpPr>
          <p:cNvPr id="4" name="Step number 1"/>
          <p:cNvSpPr txBox="1"/>
          <p:nvPr/>
        </p:nvSpPr>
        <p:spPr>
          <a:xfrm>
            <a:off x="1197864" y="1508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1</a:t>
            </a:r>
            <a:endParaRPr lang="en-US" sz="2400" dirty="0"/>
          </a:p>
        </p:txBody>
      </p:sp>
      <p:sp>
        <p:nvSpPr>
          <p:cNvPr id="5" name="Step arrow 1"/>
          <p:cNvSpPr/>
          <p:nvPr/>
        </p:nvSpPr>
        <p:spPr>
          <a:xfrm>
            <a:off x="2011680" y="1874520"/>
            <a:ext cx="1280160" cy="0"/>
          </a:xfrm>
          <a:prstGeom prst="line">
            <a:avLst/>
          </a:prstGeom>
          <a:noFill/>
          <a:ln w="19050">
            <a:solidFill>
              <a:srgbClr val="6B766F"/>
            </a:solidFill>
            <a:prstDash val="solid"/>
            <a:tailEnd type="triangle"/>
          </a:ln>
        </p:spPr>
      </p:sp>
      <p:sp>
        <p:nvSpPr>
          <p:cNvPr id="6" name="Step title 1"/>
          <p:cNvSpPr txBox="1"/>
          <p:nvPr/>
        </p:nvSpPr>
        <p:spPr>
          <a:xfrm>
            <a:off x="548640" y="2423160"/>
            <a:ext cx="2029968" cy="411480"/>
          </a:xfrm>
          <a:prstGeom prst="rect">
            <a:avLst/>
          </a:prstGeom>
          <a:noFill/>
          <a:ln/>
        </p:spPr>
        <p:txBody>
          <a:bodyPr wrap="square" lIns="0" tIns="0" rIns="0" bIns="0" rtlCol="0" anchor="ctr"/>
          <a:lstStyle/>
          <a:p>
            <a:pPr algn="ctr" indent="0" marL="0">
              <a:buNone/>
            </a:pPr>
            <a:r>
              <a:rPr lang="en-US" sz="1800" b="1" dirty="0">
                <a:solidFill>
                  <a:schemeClr val="tx1"/>
                </a:solidFill>
              </a:rPr>
              <a:t>Change</a:t>
            </a:r>
            <a:endParaRPr lang="en-US" sz="1800" dirty="0"/>
          </a:p>
        </p:txBody>
      </p:sp>
      <p:sp>
        <p:nvSpPr>
          <p:cNvPr id="7" name="Step text 1"/>
          <p:cNvSpPr txBox="1"/>
          <p:nvPr/>
        </p:nvSpPr>
        <p:spPr>
          <a:xfrm>
            <a:off x="594360" y="2852928"/>
            <a:ext cx="1938528" cy="914400"/>
          </a:xfrm>
          <a:prstGeom prst="rect">
            <a:avLst/>
          </a:prstGeom>
          <a:noFill/>
          <a:ln/>
        </p:spPr>
        <p:txBody>
          <a:bodyPr wrap="square" lIns="0" tIns="0" rIns="0" bIns="0" rtlCol="0" anchor="t"/>
          <a:lstStyle/>
          <a:p>
            <a:pPr algn="ctr" indent="0" marL="0">
              <a:buNone/>
            </a:pPr>
            <a:r>
              <a:rPr lang="en-US" sz="1300" dirty="0">
                <a:solidFill>
                  <a:schemeClr val="accent5"/>
                </a:solidFill>
              </a:rPr>
              <a:t>Edit the app's tagline and commit</a:t>
            </a:r>
            <a:endParaRPr lang="en-US" sz="1300" dirty="0"/>
          </a:p>
        </p:txBody>
      </p:sp>
      <p:sp>
        <p:nvSpPr>
          <p:cNvPr id="8" name="Step circle 2"/>
          <p:cNvSpPr/>
          <p:nvPr/>
        </p:nvSpPr>
        <p:spPr>
          <a:xfrm>
            <a:off x="3447288" y="1508760"/>
            <a:ext cx="731520" cy="731520"/>
          </a:xfrm>
          <a:prstGeom prst="ellipse">
            <a:avLst/>
          </a:prstGeom>
          <a:solidFill>
            <a:srgbClr val="2F7D5B"/>
          </a:solidFill>
          <a:ln/>
        </p:spPr>
      </p:sp>
      <p:sp>
        <p:nvSpPr>
          <p:cNvPr id="9" name="Step number 2"/>
          <p:cNvSpPr txBox="1"/>
          <p:nvPr/>
        </p:nvSpPr>
        <p:spPr>
          <a:xfrm>
            <a:off x="3447288" y="1508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2</a:t>
            </a:r>
            <a:endParaRPr lang="en-US" sz="2400" dirty="0"/>
          </a:p>
        </p:txBody>
      </p:sp>
      <p:sp>
        <p:nvSpPr>
          <p:cNvPr id="10" name="Step arrow 2"/>
          <p:cNvSpPr/>
          <p:nvPr/>
        </p:nvSpPr>
        <p:spPr>
          <a:xfrm>
            <a:off x="4261104" y="1874520"/>
            <a:ext cx="1280160" cy="0"/>
          </a:xfrm>
          <a:prstGeom prst="line">
            <a:avLst/>
          </a:prstGeom>
          <a:noFill/>
          <a:ln w="19050">
            <a:solidFill>
              <a:srgbClr val="6B766F"/>
            </a:solidFill>
            <a:prstDash val="solid"/>
            <a:tailEnd type="triangle"/>
          </a:ln>
        </p:spPr>
      </p:sp>
      <p:sp>
        <p:nvSpPr>
          <p:cNvPr id="11" name="Step title 2"/>
          <p:cNvSpPr txBox="1"/>
          <p:nvPr/>
        </p:nvSpPr>
        <p:spPr>
          <a:xfrm>
            <a:off x="2798064" y="2423160"/>
            <a:ext cx="2029968" cy="411480"/>
          </a:xfrm>
          <a:prstGeom prst="rect">
            <a:avLst/>
          </a:prstGeom>
          <a:noFill/>
          <a:ln/>
        </p:spPr>
        <p:txBody>
          <a:bodyPr wrap="square" lIns="0" tIns="0" rIns="0" bIns="0" rtlCol="0" anchor="ctr"/>
          <a:lstStyle/>
          <a:p>
            <a:pPr algn="ctr" indent="0" marL="0">
              <a:buNone/>
            </a:pPr>
            <a:r>
              <a:rPr lang="en-US" sz="1800" b="1" dirty="0">
                <a:solidFill>
                  <a:schemeClr val="tx1"/>
                </a:solidFill>
              </a:rPr>
              <a:t>Push</a:t>
            </a:r>
            <a:endParaRPr lang="en-US" sz="1800" dirty="0"/>
          </a:p>
        </p:txBody>
      </p:sp>
      <p:sp>
        <p:nvSpPr>
          <p:cNvPr id="12" name="Step text 2"/>
          <p:cNvSpPr txBox="1"/>
          <p:nvPr/>
        </p:nvSpPr>
        <p:spPr>
          <a:xfrm>
            <a:off x="2843784" y="2852928"/>
            <a:ext cx="1938528" cy="914400"/>
          </a:xfrm>
          <a:prstGeom prst="rect">
            <a:avLst/>
          </a:prstGeom>
          <a:noFill/>
          <a:ln/>
        </p:spPr>
        <p:txBody>
          <a:bodyPr wrap="square" lIns="0" tIns="0" rIns="0" bIns="0" rtlCol="0" anchor="t"/>
          <a:lstStyle/>
          <a:p>
            <a:pPr algn="ctr" indent="0" marL="0">
              <a:buNone/>
            </a:pPr>
            <a:r>
              <a:rPr lang="en-US" sz="1300" dirty="0">
                <a:solidFill>
                  <a:schemeClr val="accent5"/>
                </a:solidFill>
              </a:rPr>
              <a:t>git push origin main triggers the pipeline</a:t>
            </a:r>
            <a:endParaRPr lang="en-US" sz="1300" dirty="0"/>
          </a:p>
        </p:txBody>
      </p:sp>
      <p:sp>
        <p:nvSpPr>
          <p:cNvPr id="13" name="Step circle 3"/>
          <p:cNvSpPr/>
          <p:nvPr/>
        </p:nvSpPr>
        <p:spPr>
          <a:xfrm>
            <a:off x="5696712" y="1508760"/>
            <a:ext cx="731520" cy="731520"/>
          </a:xfrm>
          <a:prstGeom prst="ellipse">
            <a:avLst/>
          </a:prstGeom>
          <a:solidFill>
            <a:srgbClr val="2F7D5B"/>
          </a:solidFill>
          <a:ln/>
        </p:spPr>
      </p:sp>
      <p:sp>
        <p:nvSpPr>
          <p:cNvPr id="14" name="Step number 3"/>
          <p:cNvSpPr txBox="1"/>
          <p:nvPr/>
        </p:nvSpPr>
        <p:spPr>
          <a:xfrm>
            <a:off x="5696712" y="1508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3</a:t>
            </a:r>
            <a:endParaRPr lang="en-US" sz="2400" dirty="0"/>
          </a:p>
        </p:txBody>
      </p:sp>
      <p:sp>
        <p:nvSpPr>
          <p:cNvPr id="15" name="Step arrow 3"/>
          <p:cNvSpPr/>
          <p:nvPr/>
        </p:nvSpPr>
        <p:spPr>
          <a:xfrm>
            <a:off x="6510528" y="1874520"/>
            <a:ext cx="1280160" cy="0"/>
          </a:xfrm>
          <a:prstGeom prst="line">
            <a:avLst/>
          </a:prstGeom>
          <a:noFill/>
          <a:ln w="19050">
            <a:solidFill>
              <a:srgbClr val="6B766F"/>
            </a:solidFill>
            <a:prstDash val="solid"/>
            <a:tailEnd type="triangle"/>
          </a:ln>
        </p:spPr>
      </p:sp>
      <p:sp>
        <p:nvSpPr>
          <p:cNvPr id="16" name="Step title 3"/>
          <p:cNvSpPr txBox="1"/>
          <p:nvPr/>
        </p:nvSpPr>
        <p:spPr>
          <a:xfrm>
            <a:off x="5047488" y="2423160"/>
            <a:ext cx="2029968" cy="411480"/>
          </a:xfrm>
          <a:prstGeom prst="rect">
            <a:avLst/>
          </a:prstGeom>
          <a:noFill/>
          <a:ln/>
        </p:spPr>
        <p:txBody>
          <a:bodyPr wrap="square" lIns="0" tIns="0" rIns="0" bIns="0" rtlCol="0" anchor="ctr"/>
          <a:lstStyle/>
          <a:p>
            <a:pPr algn="ctr" indent="0" marL="0">
              <a:buNone/>
            </a:pPr>
            <a:r>
              <a:rPr lang="en-US" sz="1800" b="1" dirty="0">
                <a:solidFill>
                  <a:schemeClr val="tx1"/>
                </a:solidFill>
              </a:rPr>
              <a:t>Verify</a:t>
            </a:r>
            <a:endParaRPr lang="en-US" sz="1800" dirty="0"/>
          </a:p>
        </p:txBody>
      </p:sp>
      <p:sp>
        <p:nvSpPr>
          <p:cNvPr id="17" name="Step text 3"/>
          <p:cNvSpPr txBox="1"/>
          <p:nvPr/>
        </p:nvSpPr>
        <p:spPr>
          <a:xfrm>
            <a:off x="5093208" y="2852928"/>
            <a:ext cx="1938528" cy="914400"/>
          </a:xfrm>
          <a:prstGeom prst="rect">
            <a:avLst/>
          </a:prstGeom>
          <a:noFill/>
          <a:ln/>
        </p:spPr>
        <p:txBody>
          <a:bodyPr wrap="square" lIns="0" tIns="0" rIns="0" bIns="0" rtlCol="0" anchor="t"/>
          <a:lstStyle/>
          <a:p>
            <a:pPr algn="ctr" indent="0" marL="0">
              <a:buNone/>
            </a:pPr>
            <a:r>
              <a:rPr lang="en-US" sz="1300" dirty="0">
                <a:solidFill>
                  <a:schemeClr val="accent5"/>
                </a:solidFill>
              </a:rPr>
              <a:t>Tests, build and Trivy scan pass; images pushed with the new SHA</a:t>
            </a:r>
            <a:endParaRPr lang="en-US" sz="1300" dirty="0"/>
          </a:p>
        </p:txBody>
      </p:sp>
      <p:sp>
        <p:nvSpPr>
          <p:cNvPr id="18" name="Step circle 4"/>
          <p:cNvSpPr/>
          <p:nvPr/>
        </p:nvSpPr>
        <p:spPr>
          <a:xfrm>
            <a:off x="7946136" y="1508760"/>
            <a:ext cx="731520" cy="731520"/>
          </a:xfrm>
          <a:prstGeom prst="ellipse">
            <a:avLst/>
          </a:prstGeom>
          <a:solidFill>
            <a:srgbClr val="2F7D5B"/>
          </a:solidFill>
          <a:ln/>
        </p:spPr>
      </p:sp>
      <p:sp>
        <p:nvSpPr>
          <p:cNvPr id="19" name="Step number 4"/>
          <p:cNvSpPr txBox="1"/>
          <p:nvPr/>
        </p:nvSpPr>
        <p:spPr>
          <a:xfrm>
            <a:off x="7946136" y="1508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4</a:t>
            </a:r>
            <a:endParaRPr lang="en-US" sz="2400" dirty="0"/>
          </a:p>
        </p:txBody>
      </p:sp>
      <p:sp>
        <p:nvSpPr>
          <p:cNvPr id="20" name="Step arrow 4"/>
          <p:cNvSpPr/>
          <p:nvPr/>
        </p:nvSpPr>
        <p:spPr>
          <a:xfrm>
            <a:off x="8759952" y="1874520"/>
            <a:ext cx="1280160" cy="0"/>
          </a:xfrm>
          <a:prstGeom prst="line">
            <a:avLst/>
          </a:prstGeom>
          <a:noFill/>
          <a:ln w="19050">
            <a:solidFill>
              <a:srgbClr val="6B766F"/>
            </a:solidFill>
            <a:prstDash val="solid"/>
            <a:tailEnd type="triangle"/>
          </a:ln>
        </p:spPr>
      </p:sp>
      <p:sp>
        <p:nvSpPr>
          <p:cNvPr id="21" name="Step title 4"/>
          <p:cNvSpPr txBox="1"/>
          <p:nvPr/>
        </p:nvSpPr>
        <p:spPr>
          <a:xfrm>
            <a:off x="7296912" y="2423160"/>
            <a:ext cx="2029968" cy="411480"/>
          </a:xfrm>
          <a:prstGeom prst="rect">
            <a:avLst/>
          </a:prstGeom>
          <a:noFill/>
          <a:ln/>
        </p:spPr>
        <p:txBody>
          <a:bodyPr wrap="square" lIns="0" tIns="0" rIns="0" bIns="0" rtlCol="0" anchor="ctr"/>
          <a:lstStyle/>
          <a:p>
            <a:pPr algn="ctr" indent="0" marL="0">
              <a:buNone/>
            </a:pPr>
            <a:r>
              <a:rPr lang="en-US" sz="1800" b="1" dirty="0">
                <a:solidFill>
                  <a:schemeClr val="tx1"/>
                </a:solidFill>
              </a:rPr>
              <a:t>Deploy</a:t>
            </a:r>
            <a:endParaRPr lang="en-US" sz="1800" dirty="0"/>
          </a:p>
        </p:txBody>
      </p:sp>
      <p:sp>
        <p:nvSpPr>
          <p:cNvPr id="22" name="Step text 4"/>
          <p:cNvSpPr txBox="1"/>
          <p:nvPr/>
        </p:nvSpPr>
        <p:spPr>
          <a:xfrm>
            <a:off x="7342632" y="2852928"/>
            <a:ext cx="1938528" cy="914400"/>
          </a:xfrm>
          <a:prstGeom prst="rect">
            <a:avLst/>
          </a:prstGeom>
          <a:noFill/>
          <a:ln/>
        </p:spPr>
        <p:txBody>
          <a:bodyPr wrap="square" lIns="0" tIns="0" rIns="0" bIns="0" rtlCol="0" anchor="t"/>
          <a:lstStyle/>
          <a:p>
            <a:pPr algn="ctr" indent="0" marL="0">
              <a:buNone/>
            </a:pPr>
            <a:r>
              <a:rPr lang="en-US" sz="1300" dirty="0">
                <a:solidFill>
                  <a:schemeClr val="accent5"/>
                </a:solidFill>
              </a:rPr>
              <a:t>Helm rolls new pods out while the old ones keep serving</a:t>
            </a:r>
            <a:endParaRPr lang="en-US" sz="1300" dirty="0"/>
          </a:p>
        </p:txBody>
      </p:sp>
      <p:sp>
        <p:nvSpPr>
          <p:cNvPr id="23" name="Step circle 5"/>
          <p:cNvSpPr/>
          <p:nvPr/>
        </p:nvSpPr>
        <p:spPr>
          <a:xfrm>
            <a:off x="10195560" y="1508760"/>
            <a:ext cx="731520" cy="731520"/>
          </a:xfrm>
          <a:prstGeom prst="ellipse">
            <a:avLst/>
          </a:prstGeom>
          <a:solidFill>
            <a:srgbClr val="2F7D5B"/>
          </a:solidFill>
          <a:ln/>
        </p:spPr>
      </p:sp>
      <p:sp>
        <p:nvSpPr>
          <p:cNvPr id="24" name="Step number 5"/>
          <p:cNvSpPr txBox="1"/>
          <p:nvPr/>
        </p:nvSpPr>
        <p:spPr>
          <a:xfrm>
            <a:off x="10195560" y="1508760"/>
            <a:ext cx="731520" cy="731520"/>
          </a:xfrm>
          <a:prstGeom prst="rect">
            <a:avLst/>
          </a:prstGeom>
          <a:noFill/>
          <a:ln/>
        </p:spPr>
        <p:txBody>
          <a:bodyPr wrap="square" lIns="0" tIns="0" rIns="0" bIns="0" rtlCol="0" anchor="ctr"/>
          <a:lstStyle/>
          <a:p>
            <a:pPr algn="ctr" indent="0" marL="0">
              <a:buNone/>
            </a:pPr>
            <a:r>
              <a:rPr lang="en-US" sz="2400" b="1" dirty="0">
                <a:solidFill>
                  <a:srgbClr val="FFFFFF"/>
                </a:solidFill>
              </a:rPr>
              <a:t>5</a:t>
            </a:r>
            <a:endParaRPr lang="en-US" sz="2400" dirty="0"/>
          </a:p>
        </p:txBody>
      </p:sp>
      <p:sp>
        <p:nvSpPr>
          <p:cNvPr id="25" name="Step title 5"/>
          <p:cNvSpPr txBox="1"/>
          <p:nvPr/>
        </p:nvSpPr>
        <p:spPr>
          <a:xfrm>
            <a:off x="9546336" y="2423160"/>
            <a:ext cx="2029968" cy="411480"/>
          </a:xfrm>
          <a:prstGeom prst="rect">
            <a:avLst/>
          </a:prstGeom>
          <a:noFill/>
          <a:ln/>
        </p:spPr>
        <p:txBody>
          <a:bodyPr wrap="square" lIns="0" tIns="0" rIns="0" bIns="0" rtlCol="0" anchor="ctr"/>
          <a:lstStyle/>
          <a:p>
            <a:pPr algn="ctr" indent="0" marL="0">
              <a:buNone/>
            </a:pPr>
            <a:r>
              <a:rPr lang="en-US" sz="1800" b="1" dirty="0">
                <a:solidFill>
                  <a:schemeClr val="tx1"/>
                </a:solidFill>
              </a:rPr>
              <a:t>See it</a:t>
            </a:r>
            <a:endParaRPr lang="en-US" sz="1800" dirty="0"/>
          </a:p>
        </p:txBody>
      </p:sp>
      <p:sp>
        <p:nvSpPr>
          <p:cNvPr id="26" name="Step text 5"/>
          <p:cNvSpPr txBox="1"/>
          <p:nvPr/>
        </p:nvSpPr>
        <p:spPr>
          <a:xfrm>
            <a:off x="9592056" y="2852928"/>
            <a:ext cx="1938528" cy="914400"/>
          </a:xfrm>
          <a:prstGeom prst="rect">
            <a:avLst/>
          </a:prstGeom>
          <a:noFill/>
          <a:ln/>
        </p:spPr>
        <p:txBody>
          <a:bodyPr wrap="square" lIns="0" tIns="0" rIns="0" bIns="0" rtlCol="0" anchor="t"/>
          <a:lstStyle/>
          <a:p>
            <a:pPr algn="ctr" indent="0" marL="0">
              <a:buNone/>
            </a:pPr>
            <a:r>
              <a:rPr lang="en-US" sz="1300" dirty="0">
                <a:solidFill>
                  <a:schemeClr val="accent5"/>
                </a:solidFill>
              </a:rPr>
              <a:t>Refresh the app: new tagline, build badge shows the new SHA</a:t>
            </a:r>
            <a:endParaRPr lang="en-US" sz="1300" dirty="0"/>
          </a:p>
        </p:txBody>
      </p:sp>
      <p:pic>
        <p:nvPicPr>
          <p:cNvPr id="27" name="Helm history screenshot" descr="Helm history screenshot">    </p:cNvPr>
          <p:cNvPicPr>
            <a:picLocks noChangeAspect="1"/>
          </p:cNvPicPr>
          <p:nvPr/>
        </p:nvPicPr>
        <p:blipFill>
          <a:blip r:embed="rId1"/>
          <a:stretch>
            <a:fillRect/>
          </a:stretch>
        </p:blipFill>
        <p:spPr>
          <a:xfrm>
            <a:off x="2912943" y="3977640"/>
            <a:ext cx="6335633" cy="2240280"/>
          </a:xfrm>
          <a:prstGeom prst="rect">
            <a:avLst/>
          </a:prstGeom>
          <a:effectLst>
            <a:outerShdw sx="100000" sy="100000" kx="0" ky="0" algn="bl" rotWithShape="0" blurRad="101600" dist="25400" dir="5400000">
              <a:srgbClr val="000000">
                <a:alpha val="18000"/>
              </a:srgbClr>
            </a:outerShdw>
          </a:effectLst>
        </p:spPr>
      </p:pic>
      <p:sp>
        <p:nvSpPr>
          <p:cNvPr id="28" name="Helm history screenshot frame"/>
          <p:cNvSpPr/>
          <p:nvPr/>
        </p:nvSpPr>
        <p:spPr>
          <a:xfrm>
            <a:off x="2912943" y="3977640"/>
            <a:ext cx="6335633" cy="2240280"/>
          </a:xfrm>
          <a:prstGeom prst="rect">
            <a:avLst/>
          </a:prstGeom>
          <a:ln w="9525">
            <a:solidFill>
              <a:srgbClr val="D5DBD7"/>
            </a:solidFill>
            <a:prstDash val="solid"/>
          </a:ln>
        </p:spPr>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777240"/>
          </a:xfrm>
          <a:prstGeom prst="rect">
            <a:avLst/>
          </a:prstGeom>
          <a:noFill/>
          <a:ln/>
        </p:spPr>
        <p:txBody>
          <a:bodyPr wrap="square" lIns="0" tIns="0" rIns="0" bIns="0" rtlCol="0" anchor="ctr"/>
          <a:lstStyle/>
          <a:p>
            <a:pPr algn="l" indent="0" marL="0">
              <a:buNone/>
            </a:pPr>
            <a:r>
              <a:rPr lang="en-US" sz="3400" b="1" dirty="0">
                <a:solidFill>
                  <a:schemeClr val="bg1"/>
                </a:solidFill>
                <a:latin typeface="Cambria" pitchFamily="34" charset="0"/>
                <a:ea typeface="Cambria" pitchFamily="34" charset="-122"/>
                <a:cs typeface="Cambria" pitchFamily="34" charset="-120"/>
              </a:rPr>
              <a:t>Problems I hit and how I solved them</a:t>
            </a:r>
            <a:endParaRPr lang="en-US" sz="3400" dirty="0"/>
          </a:p>
        </p:txBody>
      </p:sp>
      <p:sp>
        <p:nvSpPr>
          <p:cNvPr id="3" name="Lesson card 1"/>
          <p:cNvSpPr/>
          <p:nvPr/>
        </p:nvSpPr>
        <p:spPr>
          <a:xfrm>
            <a:off x="548640" y="1417320"/>
            <a:ext cx="3520440" cy="2194560"/>
          </a:xfrm>
          <a:prstGeom prst="roundRect">
            <a:avLst>
              <a:gd name="adj" fmla="val 5000"/>
            </a:avLst>
          </a:prstGeom>
          <a:solidFill>
            <a:srgbClr val="1E5A42"/>
          </a:solidFill>
          <a:ln/>
        </p:spPr>
      </p:sp>
      <p:sp>
        <p:nvSpPr>
          <p:cNvPr id="4" name="Lesson title 1"/>
          <p:cNvSpPr txBox="1"/>
          <p:nvPr/>
        </p:nvSpPr>
        <p:spPr>
          <a:xfrm>
            <a:off x="822960" y="164592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Vulnerable base images</a:t>
            </a:r>
            <a:endParaRPr lang="en-US" sz="1800" dirty="0"/>
          </a:p>
        </p:txBody>
      </p:sp>
      <p:sp>
        <p:nvSpPr>
          <p:cNvPr id="5" name="Lesson text 1"/>
          <p:cNvSpPr txBox="1"/>
          <p:nvPr/>
        </p:nvSpPr>
        <p:spPr>
          <a:xfrm>
            <a:off x="822960" y="2194560"/>
            <a:ext cx="2971800" cy="1280160"/>
          </a:xfrm>
          <a:prstGeom prst="rect">
            <a:avLst/>
          </a:prstGeom>
          <a:noFill/>
          <a:ln/>
        </p:spPr>
        <p:txBody>
          <a:bodyPr wrap="square" lIns="0" tIns="0" rIns="0" bIns="0" rtlCol="0" anchor="t"/>
          <a:lstStyle/>
          <a:p>
            <a:pPr indent="0" marL="0">
              <a:buNone/>
            </a:pPr>
            <a:r>
              <a:rPr lang="en-US" sz="1400" dirty="0">
                <a:solidFill>
                  <a:schemeClr val="bg1"/>
                </a:solidFill>
              </a:rPr>
              <a:t>Trivy failed the first build. Removed unused pip/setuptools and patched OS packages.</a:t>
            </a:r>
            <a:endParaRPr lang="en-US" sz="1400" dirty="0"/>
          </a:p>
        </p:txBody>
      </p:sp>
      <p:sp>
        <p:nvSpPr>
          <p:cNvPr id="6" name="Lesson card 2"/>
          <p:cNvSpPr/>
          <p:nvPr/>
        </p:nvSpPr>
        <p:spPr>
          <a:xfrm>
            <a:off x="4297680" y="1417320"/>
            <a:ext cx="3520440" cy="2194560"/>
          </a:xfrm>
          <a:prstGeom prst="roundRect">
            <a:avLst>
              <a:gd name="adj" fmla="val 5000"/>
            </a:avLst>
          </a:prstGeom>
          <a:solidFill>
            <a:srgbClr val="1E5A42"/>
          </a:solidFill>
          <a:ln/>
        </p:spPr>
      </p:sp>
      <p:sp>
        <p:nvSpPr>
          <p:cNvPr id="7" name="Lesson title 2"/>
          <p:cNvSpPr txBox="1"/>
          <p:nvPr/>
        </p:nvSpPr>
        <p:spPr>
          <a:xfrm>
            <a:off x="4572000" y="164592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Backend crash-looping</a:t>
            </a:r>
            <a:endParaRPr lang="en-US" sz="1800" dirty="0"/>
          </a:p>
        </p:txBody>
      </p:sp>
      <p:sp>
        <p:nvSpPr>
          <p:cNvPr id="8" name="Lesson text 2"/>
          <p:cNvSpPr txBox="1"/>
          <p:nvPr/>
        </p:nvSpPr>
        <p:spPr>
          <a:xfrm>
            <a:off x="4572000" y="2194560"/>
            <a:ext cx="2971800" cy="1280160"/>
          </a:xfrm>
          <a:prstGeom prst="rect">
            <a:avLst/>
          </a:prstGeom>
          <a:noFill/>
          <a:ln/>
        </p:spPr>
        <p:txBody>
          <a:bodyPr wrap="square" lIns="0" tIns="0" rIns="0" bIns="0" rtlCol="0" anchor="t"/>
          <a:lstStyle/>
          <a:p>
            <a:pPr indent="0" marL="0">
              <a:buNone/>
            </a:pPr>
            <a:r>
              <a:rPr lang="en-US" sz="1400" dirty="0">
                <a:solidFill>
                  <a:schemeClr val="bg1"/>
                </a:solidFill>
              </a:rPr>
              <a:t>Pods started before PostgreSQL was ready. Added an init container that waits for the DB.</a:t>
            </a:r>
            <a:endParaRPr lang="en-US" sz="1400" dirty="0"/>
          </a:p>
        </p:txBody>
      </p:sp>
      <p:sp>
        <p:nvSpPr>
          <p:cNvPr id="9" name="Lesson card 3"/>
          <p:cNvSpPr/>
          <p:nvPr/>
        </p:nvSpPr>
        <p:spPr>
          <a:xfrm>
            <a:off x="8046720" y="1417320"/>
            <a:ext cx="3520440" cy="2194560"/>
          </a:xfrm>
          <a:prstGeom prst="roundRect">
            <a:avLst>
              <a:gd name="adj" fmla="val 5000"/>
            </a:avLst>
          </a:prstGeom>
          <a:solidFill>
            <a:srgbClr val="1E5A42"/>
          </a:solidFill>
          <a:ln/>
        </p:spPr>
      </p:sp>
      <p:sp>
        <p:nvSpPr>
          <p:cNvPr id="10" name="Lesson title 3"/>
          <p:cNvSpPr txBox="1"/>
          <p:nvPr/>
        </p:nvSpPr>
        <p:spPr>
          <a:xfrm>
            <a:off x="8321040" y="164592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Metrics counted twice</a:t>
            </a:r>
            <a:endParaRPr lang="en-US" sz="1800" dirty="0"/>
          </a:p>
        </p:txBody>
      </p:sp>
      <p:sp>
        <p:nvSpPr>
          <p:cNvPr id="11" name="Lesson text 3"/>
          <p:cNvSpPr txBox="1"/>
          <p:nvPr/>
        </p:nvSpPr>
        <p:spPr>
          <a:xfrm>
            <a:off x="8321040" y="2194560"/>
            <a:ext cx="2971800" cy="1280160"/>
          </a:xfrm>
          <a:prstGeom prst="rect">
            <a:avLst/>
          </a:prstGeom>
          <a:noFill/>
          <a:ln/>
        </p:spPr>
        <p:txBody>
          <a:bodyPr wrap="square" lIns="0" tIns="0" rIns="0" bIns="0" rtlCol="0" anchor="t"/>
          <a:lstStyle/>
          <a:p>
            <a:pPr indent="0" marL="0">
              <a:buNone/>
            </a:pPr>
            <a:r>
              <a:rPr lang="en-US" sz="1400" dirty="0">
                <a:solidFill>
                  <a:schemeClr val="bg1"/>
                </a:solidFill>
              </a:rPr>
              <a:t>Two Prometheus jobs scraped the same pods. Switched to one label-based job.</a:t>
            </a:r>
            <a:endParaRPr lang="en-US" sz="1400" dirty="0"/>
          </a:p>
        </p:txBody>
      </p:sp>
      <p:sp>
        <p:nvSpPr>
          <p:cNvPr id="12" name="Lesson card 4"/>
          <p:cNvSpPr/>
          <p:nvPr/>
        </p:nvSpPr>
        <p:spPr>
          <a:xfrm>
            <a:off x="548640" y="3840480"/>
            <a:ext cx="3520440" cy="2194560"/>
          </a:xfrm>
          <a:prstGeom prst="roundRect">
            <a:avLst>
              <a:gd name="adj" fmla="val 5000"/>
            </a:avLst>
          </a:prstGeom>
          <a:solidFill>
            <a:srgbClr val="1E5A42"/>
          </a:solidFill>
          <a:ln/>
        </p:spPr>
      </p:sp>
      <p:sp>
        <p:nvSpPr>
          <p:cNvPr id="13" name="Lesson title 4"/>
          <p:cNvSpPr txBox="1"/>
          <p:nvPr/>
        </p:nvSpPr>
        <p:spPr>
          <a:xfrm>
            <a:off x="822960" y="406908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No AWS account</a:t>
            </a:r>
            <a:endParaRPr lang="en-US" sz="1800" dirty="0"/>
          </a:p>
        </p:txBody>
      </p:sp>
      <p:sp>
        <p:nvSpPr>
          <p:cNvPr id="14" name="Lesson text 4"/>
          <p:cNvSpPr txBox="1"/>
          <p:nvPr/>
        </p:nvSpPr>
        <p:spPr>
          <a:xfrm>
            <a:off x="822960" y="4617720"/>
            <a:ext cx="2971800" cy="1280160"/>
          </a:xfrm>
          <a:prstGeom prst="rect">
            <a:avLst/>
          </a:prstGeom>
          <a:noFill/>
          <a:ln/>
        </p:spPr>
        <p:txBody>
          <a:bodyPr wrap="square" lIns="0" tIns="0" rIns="0" bIns="0" rtlCol="0" anchor="t"/>
          <a:lstStyle/>
          <a:p>
            <a:pPr indent="0" marL="0">
              <a:buNone/>
            </a:pPr>
            <a:r>
              <a:rPr lang="en-US" sz="1400" dirty="0">
                <a:solidFill>
                  <a:schemeClr val="bg1"/>
                </a:solidFill>
              </a:rPr>
              <a:t>Ran Terraform against moto, a local AWS emulator, and enabled its managed IAM policies.</a:t>
            </a:r>
            <a:endParaRPr lang="en-US" sz="1400" dirty="0"/>
          </a:p>
        </p:txBody>
      </p:sp>
      <p:sp>
        <p:nvSpPr>
          <p:cNvPr id="15" name="Lesson card 5"/>
          <p:cNvSpPr/>
          <p:nvPr/>
        </p:nvSpPr>
        <p:spPr>
          <a:xfrm>
            <a:off x="4297680" y="3840480"/>
            <a:ext cx="3520440" cy="2194560"/>
          </a:xfrm>
          <a:prstGeom prst="roundRect">
            <a:avLst>
              <a:gd name="adj" fmla="val 5000"/>
            </a:avLst>
          </a:prstGeom>
          <a:solidFill>
            <a:srgbClr val="1E5A42"/>
          </a:solidFill>
          <a:ln/>
        </p:spPr>
      </p:sp>
      <p:sp>
        <p:nvSpPr>
          <p:cNvPr id="16" name="Lesson title 5"/>
          <p:cNvSpPr txBox="1"/>
          <p:nvPr/>
        </p:nvSpPr>
        <p:spPr>
          <a:xfrm>
            <a:off x="4572000" y="406908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Port 5000 taken</a:t>
            </a:r>
            <a:endParaRPr lang="en-US" sz="1800" dirty="0"/>
          </a:p>
        </p:txBody>
      </p:sp>
      <p:sp>
        <p:nvSpPr>
          <p:cNvPr id="17" name="Lesson text 5"/>
          <p:cNvSpPr txBox="1"/>
          <p:nvPr/>
        </p:nvSpPr>
        <p:spPr>
          <a:xfrm>
            <a:off x="4572000" y="4617720"/>
            <a:ext cx="2971800" cy="1280160"/>
          </a:xfrm>
          <a:prstGeom prst="rect">
            <a:avLst/>
          </a:prstGeom>
          <a:noFill/>
          <a:ln/>
        </p:spPr>
        <p:txBody>
          <a:bodyPr wrap="square" lIns="0" tIns="0" rIns="0" bIns="0" rtlCol="0" anchor="t"/>
          <a:lstStyle/>
          <a:p>
            <a:pPr indent="0" marL="0">
              <a:buNone/>
            </a:pPr>
            <a:r>
              <a:rPr lang="en-US" sz="1400" dirty="0">
                <a:solidFill>
                  <a:schemeClr val="bg1"/>
                </a:solidFill>
              </a:rPr>
              <a:t>macOS AirPlay uses port 5000. Moved the mock AWS server to port 5050.</a:t>
            </a:r>
            <a:endParaRPr lang="en-US" sz="1400" dirty="0"/>
          </a:p>
        </p:txBody>
      </p:sp>
      <p:sp>
        <p:nvSpPr>
          <p:cNvPr id="18" name="Lesson card 6"/>
          <p:cNvSpPr/>
          <p:nvPr/>
        </p:nvSpPr>
        <p:spPr>
          <a:xfrm>
            <a:off x="8046720" y="3840480"/>
            <a:ext cx="3520440" cy="2194560"/>
          </a:xfrm>
          <a:prstGeom prst="roundRect">
            <a:avLst>
              <a:gd name="adj" fmla="val 5000"/>
            </a:avLst>
          </a:prstGeom>
          <a:solidFill>
            <a:srgbClr val="1E5A42"/>
          </a:solidFill>
          <a:ln/>
        </p:spPr>
      </p:sp>
      <p:sp>
        <p:nvSpPr>
          <p:cNvPr id="19" name="Lesson title 6"/>
          <p:cNvSpPr txBox="1"/>
          <p:nvPr/>
        </p:nvSpPr>
        <p:spPr>
          <a:xfrm>
            <a:off x="8321040" y="4069080"/>
            <a:ext cx="2971800" cy="457200"/>
          </a:xfrm>
          <a:prstGeom prst="rect">
            <a:avLst/>
          </a:prstGeom>
          <a:noFill/>
          <a:ln/>
        </p:spPr>
        <p:txBody>
          <a:bodyPr wrap="square" lIns="0" tIns="0" rIns="0" bIns="0" rtlCol="0" anchor="ctr"/>
          <a:lstStyle/>
          <a:p>
            <a:pPr indent="0" marL="0">
              <a:buNone/>
            </a:pPr>
            <a:r>
              <a:rPr lang="en-US" sz="1800" b="1" dirty="0">
                <a:solidFill>
                  <a:schemeClr val="accent2"/>
                </a:solidFill>
              </a:rPr>
              <a:t>Safe migrations</a:t>
            </a:r>
            <a:endParaRPr lang="en-US" sz="1800" dirty="0"/>
          </a:p>
        </p:txBody>
      </p:sp>
      <p:sp>
        <p:nvSpPr>
          <p:cNvPr id="20" name="Lesson text 6"/>
          <p:cNvSpPr txBox="1"/>
          <p:nvPr/>
        </p:nvSpPr>
        <p:spPr>
          <a:xfrm>
            <a:off x="8321040" y="4617720"/>
            <a:ext cx="2971800" cy="1280160"/>
          </a:xfrm>
          <a:prstGeom prst="rect">
            <a:avLst/>
          </a:prstGeom>
          <a:noFill/>
          <a:ln/>
        </p:spPr>
        <p:txBody>
          <a:bodyPr wrap="square" lIns="0" tIns="0" rIns="0" bIns="0" rtlCol="0" anchor="t"/>
          <a:lstStyle/>
          <a:p>
            <a:pPr indent="0" marL="0">
              <a:buNone/>
            </a:pPr>
            <a:r>
              <a:rPr lang="en-US" sz="1400" dirty="0">
                <a:solidFill>
                  <a:schemeClr val="bg1"/>
                </a:solidFill>
              </a:rPr>
              <a:t>Two replicas could migrate at once. A Postgres advisory lock serialises them.</a:t>
            </a:r>
            <a:endParaRPr lang="en-US" sz="1400" dirty="0"/>
          </a:p>
        </p:txBody>
      </p:sp>
      <p:sp>
        <p:nvSpPr>
          <p:cNvPr id="25" name="Slide Number Placeholder 0"/>
          <p:cNvSpPr>
            <a:spLocks noGrp="1"/>
          </p:cNvSpPr>
          <p:nvPr>
            <p:ph type="sldNum" sz="quarter" idx="4294967295"/>
          </p:nvPr>
        </p:nvSpPr>
        <p:spPr>
          <a:xfrm>
            <a:off x="11109960" y="6419088"/>
            <a:ext cx="50292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640080" y="1828800"/>
            <a:ext cx="5852160" cy="1280160"/>
          </a:xfrm>
          <a:prstGeom prst="rect">
            <a:avLst/>
          </a:prstGeom>
          <a:noFill/>
          <a:ln/>
        </p:spPr>
        <p:txBody>
          <a:bodyPr wrap="square" lIns="0" tIns="0" rIns="0" bIns="0" rtlCol="0" anchor="b"/>
          <a:lstStyle/>
          <a:p>
            <a:pPr algn="l" indent="0" marL="0">
              <a:buNone/>
            </a:pPr>
            <a:r>
              <a:rPr lang="en-US" sz="5400" b="1" dirty="0">
                <a:solidFill>
                  <a:schemeClr val="bg1"/>
                </a:solidFill>
                <a:latin typeface="Cambria" pitchFamily="34" charset="0"/>
                <a:ea typeface="Cambria" pitchFamily="34" charset="-122"/>
                <a:cs typeface="Cambria" pitchFamily="34" charset="-120"/>
              </a:rPr>
              <a:t>Thank you</a:t>
            </a:r>
            <a:endParaRPr lang="en-US" sz="5400" dirty="0"/>
          </a:p>
        </p:txBody>
      </p:sp>
      <p:sp>
        <p:nvSpPr>
          <p:cNvPr id="3" name="Text 0"/>
          <p:cNvSpPr/>
          <p:nvPr>
            <p:ph idx="101" type="body" hasCustomPrompt="1"/>
          </p:nvPr>
        </p:nvSpPr>
        <p:spPr>
          <a:xfrm>
            <a:off x="640080" y="3246120"/>
            <a:ext cx="5669280" cy="1280160"/>
          </a:xfrm>
          <a:prstGeom prst="rect">
            <a:avLst/>
          </a:prstGeom>
          <a:noFill/>
          <a:ln/>
        </p:spPr>
        <p:txBody>
          <a:bodyPr wrap="square" lIns="0" tIns="0" rIns="0" bIns="0" rtlCol="0" anchor="t"/>
          <a:lstStyle/>
          <a:p>
            <a:pPr algn="l" indent="0" marL="0">
              <a:buNone/>
            </a:pPr>
            <a:r>
              <a:rPr lang="en-US" sz="2000" dirty="0">
                <a:solidFill>
                  <a:schemeClr val="accent6"/>
                </a:solidFill>
              </a:rPr>
              <a:t>Questions?</a:t>
            </a:r>
            <a:endParaRPr lang="en-US" sz="2000" dirty="0"/>
          </a:p>
        </p:txBody>
      </p:sp>
      <p:sp>
        <p:nvSpPr>
          <p:cNvPr id="4" name="Links"/>
          <p:cNvSpPr txBox="1"/>
          <p:nvPr/>
        </p:nvSpPr>
        <p:spPr>
          <a:xfrm>
            <a:off x="640080" y="4754880"/>
            <a:ext cx="5852160" cy="822960"/>
          </a:xfrm>
          <a:prstGeom prst="rect">
            <a:avLst/>
          </a:prstGeom>
          <a:noFill/>
          <a:ln/>
        </p:spPr>
        <p:txBody>
          <a:bodyPr wrap="square" lIns="0" tIns="0" rIns="0" bIns="0" rtlCol="0" anchor="ctr"/>
          <a:lstStyle/>
          <a:p>
            <a:pPr indent="0" marL="0">
              <a:buNone/>
            </a:pPr>
            <a:r>
              <a:rPr lang="en-US" sz="1500" b="1" dirty="0">
                <a:solidFill>
                  <a:srgbClr val="F4C95D"/>
                </a:solidFill>
              </a:rPr>
              <a:t>Code: </a:t>
            </a:r>
            <a:pPr indent="0" marL="0">
              <a:buNone/>
            </a:pPr>
            <a:r>
              <a:rPr lang="en-US" sz="1500" dirty="0">
                <a:solidFill>
                  <a:srgbClr val="FFFFFF"/>
                </a:solidFill>
              </a:rPr>
              <a:t>github.com/erantianantha/Capsone_Devops</a:t>
            </a:r>
            <a:endParaRPr lang="en-US" sz="1500" dirty="0"/>
          </a:p>
          <a:p>
            <a:pPr indent="0" marL="0">
              <a:buNone/>
            </a:pPr>
            <a:r>
              <a:rPr lang="en-US" sz="1500" b="1" dirty="0">
                <a:solidFill>
                  <a:srgbClr val="F4C95D"/>
                </a:solidFill>
              </a:rPr>
              <a:t>Docs: </a:t>
            </a:r>
            <a:pPr indent="0" marL="0">
              <a:buNone/>
            </a:pPr>
            <a:r>
              <a:rPr lang="en-US" sz="1500" dirty="0">
                <a:solidFill>
                  <a:srgbClr val="FFFFFF"/>
                </a:solidFill>
              </a:rPr>
              <a:t>README.md · docs/submission.md · docs/demo.md</a:t>
            </a:r>
            <a:endParaRPr lang="en-US" sz="1500" dirty="0"/>
          </a:p>
        </p:txBody>
      </p:sp>
      <p:pic>
        <p:nvPicPr>
          <p:cNvPr id="5" name="Closing screenshot" descr="Closing screenshot">    </p:cNvPr>
          <p:cNvPicPr>
            <a:picLocks noChangeAspect="1"/>
          </p:cNvPicPr>
          <p:nvPr/>
        </p:nvPicPr>
        <p:blipFill>
          <a:blip r:embed="rId1"/>
          <a:stretch>
            <a:fillRect/>
          </a:stretch>
        </p:blipFill>
        <p:spPr>
          <a:xfrm>
            <a:off x="6858000" y="1247833"/>
            <a:ext cx="4846320" cy="4362333"/>
          </a:xfrm>
          <a:prstGeom prst="rect">
            <a:avLst/>
          </a:prstGeom>
          <a:effectLst>
            <a:outerShdw sx="100000" sy="100000" kx="0" ky="0" algn="bl" rotWithShape="0" blurRad="101600" dist="25400" dir="5400000">
              <a:srgbClr val="000000">
                <a:alpha val="18000"/>
              </a:srgbClr>
            </a:outerShdw>
          </a:effectLst>
        </p:spPr>
      </p:pic>
      <p:sp>
        <p:nvSpPr>
          <p:cNvPr id="6" name="Closing screenshot frame"/>
          <p:cNvSpPr/>
          <p:nvPr/>
        </p:nvSpPr>
        <p:spPr>
          <a:xfrm>
            <a:off x="6858000" y="1247833"/>
            <a:ext cx="4846320" cy="4362333"/>
          </a:xfrm>
          <a:prstGeom prst="rect">
            <a:avLst/>
          </a:prstGeom>
          <a:ln w="9525">
            <a:solidFill>
              <a:srgbClr val="D5DBD7"/>
            </a:solidFill>
            <a:prstDash val="solid"/>
          </a:ln>
        </p:spPr>
      </p:sp>
    </p:spTree>
  </p:cSld>
  <p:clrMapOvr>
    <a:masterClrMapping/>
  </p:clrMapOvr>
</p:sld>
</file>

<file path=ppt/theme/theme1.xml><?xml version="1.0" encoding="utf-8"?>
<a:theme xmlns:a="http://schemas.openxmlformats.org/drawingml/2006/main" name="PantryPal">
  <a:themeElements>
    <a:clrScheme name="PantryPal">
      <a:dk1>
        <a:srgbClr val="1F2A24"/>
      </a:dk1>
      <a:lt1>
        <a:srgbClr val="FFFFFF"/>
      </a:lt1>
      <a:dk2>
        <a:srgbClr val="15402F"/>
      </a:dk2>
      <a:lt2>
        <a:srgbClr val="EEF4F0"/>
      </a:lt2>
      <a:accent1>
        <a:srgbClr val="2F7D5B"/>
      </a:accent1>
      <a:accent2>
        <a:srgbClr val="F4C95D"/>
      </a:accent2>
      <a:accent3>
        <a:srgbClr val="B8433A"/>
      </a:accent3>
      <a:accent4>
        <a:srgbClr val="C98A12"/>
      </a:accent4>
      <a:accent5>
        <a:srgbClr val="6B766F"/>
      </a:accent5>
      <a:accent6>
        <a:srgbClr val="D9E6DE"/>
      </a:accent6>
      <a:hlink>
        <a:srgbClr val="2F7D5B"/>
      </a:hlink>
      <a:folHlink>
        <a:srgbClr val="15402F"/>
      </a:folHlink>
    </a:clrScheme>
    <a:fontScheme name="PantryP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PantryPal — DevOps Capstone</dc:title>
  <dc:subject>PptxGenJS Presentation</dc:subject>
  <dc:creator>erantianantha</dc:creator>
  <cp:lastModifiedBy>erantianantha</cp:lastModifiedBy>
  <cp:revision>1</cp:revision>
  <dcterms:created xsi:type="dcterms:W3CDTF">2026-10-17T08:24:35Z</dcterms:created>
  <dcterms:modified xsi:type="dcterms:W3CDTF">2026-10-17T08:24:35Z</dcterms:modified>
</cp:coreProperties>
</file>